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5486400" y="-771525"/>
            <a:ext cx="4114800" cy="4114800"/>
          </a:xfrm>
          <a:prstGeom prst="ellipse">
            <a:avLst/>
          </a:prstGeom>
          <a:solidFill>
            <a:srgbClr val="F4E8C1"/>
          </a:solidFill>
          <a:ln/>
        </p:spPr>
      </p:sp>
      <p:sp>
        <p:nvSpPr>
          <p:cNvPr id="4" name="Shape 2"/>
          <p:cNvSpPr/>
          <p:nvPr/>
        </p:nvSpPr>
        <p:spPr>
          <a:xfrm>
            <a:off x="-914400" y="2457450"/>
            <a:ext cx="3200400" cy="3200400"/>
          </a:xfrm>
          <a:prstGeom prst="ellipse">
            <a:avLst/>
          </a:prstGeom>
          <a:solidFill>
            <a:srgbClr val="AED9E0"/>
          </a:solidFill>
          <a:ln/>
        </p:spPr>
      </p:sp>
      <p:sp>
        <p:nvSpPr>
          <p:cNvPr id="5" name="Shape 3"/>
          <p:cNvSpPr/>
          <p:nvPr/>
        </p:nvSpPr>
        <p:spPr>
          <a:xfrm rot="900000">
            <a:off x="5028233" y="1028216"/>
            <a:ext cx="733425" cy="2195513"/>
          </a:xfrm>
          <a:prstGeom prst="roundRect">
            <a:avLst>
              <a:gd name="adj" fmla="val 62176"/>
            </a:avLst>
          </a:prstGeom>
          <a:solidFill>
            <a:srgbClr val="FFBCA6"/>
          </a:solidFill>
          <a:ln/>
        </p:spPr>
      </p:sp>
      <p:sp>
        <p:nvSpPr>
          <p:cNvPr id="6" name="Shape 4"/>
          <p:cNvSpPr/>
          <p:nvPr/>
        </p:nvSpPr>
        <p:spPr>
          <a:xfrm>
            <a:off x="6218895" y="2761320"/>
            <a:ext cx="1095375" cy="1095375"/>
          </a:xfrm>
          <a:prstGeom prst="ellipse">
            <a:avLst/>
          </a:prstGeom>
          <a:solidFill>
            <a:srgbClr val="C8B6FF"/>
          </a:solidFill>
          <a:ln/>
        </p:spPr>
      </p:sp>
      <p:sp>
        <p:nvSpPr>
          <p:cNvPr id="7" name="Shape 5"/>
          <p:cNvSpPr/>
          <p:nvPr/>
        </p:nvSpPr>
        <p:spPr>
          <a:xfrm>
            <a:off x="8046281" y="2056916"/>
            <a:ext cx="366712" cy="366712"/>
          </a:xfrm>
          <a:prstGeom prst="ellipse">
            <a:avLst/>
          </a:prstGeom>
          <a:solidFill>
            <a:srgbClr val="AED9E0"/>
          </a:solidFill>
          <a:ln/>
        </p:spPr>
      </p:sp>
      <p:sp>
        <p:nvSpPr>
          <p:cNvPr id="8" name="Shape 6"/>
          <p:cNvSpPr/>
          <p:nvPr/>
        </p:nvSpPr>
        <p:spPr>
          <a:xfrm>
            <a:off x="731007" y="411882"/>
            <a:ext cx="7681912" cy="4319588"/>
          </a:xfrm>
          <a:prstGeom prst="roundRect">
            <a:avLst>
              <a:gd name="adj" fmla="val 896"/>
            </a:avLst>
          </a:prstGeom>
          <a:solidFill>
            <a:srgbClr val="FFFFFF">
              <a:alpha val="40000"/>
            </a:srgbClr>
          </a:solidFill>
          <a:ln/>
        </p:spPr>
      </p:sp>
      <p:sp>
        <p:nvSpPr>
          <p:cNvPr id="9" name="Text 7"/>
          <p:cNvSpPr/>
          <p:nvPr/>
        </p:nvSpPr>
        <p:spPr>
          <a:xfrm>
            <a:off x="730523" y="410468"/>
            <a:ext cx="276225" cy="276225"/>
          </a:xfrm>
          <a:prstGeom prst="roundRect">
            <a:avLst>
              <a:gd name="adj" fmla="val 21917"/>
            </a:avLst>
          </a:prstGeom>
          <a:solidFill>
            <a:srgbClr val="2D3748"/>
          </a:solidFill>
          <a:ln/>
        </p:spPr>
        <p:txBody>
          <a:bodyPr wrap="square" lIns="0" tIns="0" rIns="0" bIns="0" rtlCol="0" anchor="ctr"/>
          <a:lstStyle/>
          <a:p>
            <a:pPr algn="ctr" indent="0" marL="0">
              <a:lnSpc>
                <a:spcPts val="1620"/>
              </a:lnSpc>
              <a:buNone/>
            </a:pPr>
            <a:r>
              <a:rPr lang="en-US" sz="1000" b="1" dirty="0">
                <a:solidFill>
                  <a:srgbClr val="FFFFFF"/>
                </a:solidFill>
                <a:latin typeface="DM Sans" pitchFamily="34" charset="0"/>
                <a:ea typeface="DM Sans" pitchFamily="34" charset="-122"/>
                <a:cs typeface="DM Sans" pitchFamily="34" charset="-120"/>
              </a:rPr>
              <a:t>F</a:t>
            </a:r>
            <a:endParaRPr lang="en-US" sz="1000" dirty="0"/>
          </a:p>
        </p:txBody>
      </p:sp>
      <p:sp>
        <p:nvSpPr>
          <p:cNvPr id="10" name="Text 8"/>
          <p:cNvSpPr/>
          <p:nvPr/>
        </p:nvSpPr>
        <p:spPr>
          <a:xfrm>
            <a:off x="1097124" y="446187"/>
            <a:ext cx="595313" cy="204787"/>
          </a:xfrm>
          <a:prstGeom prst="rect">
            <a:avLst/>
          </a:prstGeom>
          <a:ln/>
        </p:spPr>
        <p:txBody>
          <a:bodyPr wrap="square" lIns="0" tIns="0" rIns="0" bIns="0" rtlCol="0" anchor="t"/>
          <a:lstStyle/>
          <a:p>
            <a:pPr algn="l" indent="0" marL="0">
              <a:lnSpc>
                <a:spcPts val="1620"/>
              </a:lnSpc>
              <a:buNone/>
            </a:pPr>
            <a:r>
              <a:rPr lang="en-US" sz="1000" b="1" dirty="0">
                <a:solidFill>
                  <a:srgbClr val="2D3748"/>
                </a:solidFill>
                <a:latin typeface="DM Sans" pitchFamily="34" charset="0"/>
                <a:ea typeface="DM Sans" pitchFamily="34" charset="-122"/>
                <a:cs typeface="DM Sans" pitchFamily="34" charset="-120"/>
              </a:rPr>
              <a:t>fade.app</a:t>
            </a:r>
            <a:endParaRPr lang="en-US" sz="1000" dirty="0"/>
          </a:p>
        </p:txBody>
      </p:sp>
      <p:sp>
        <p:nvSpPr>
          <p:cNvPr id="11" name="Text 9"/>
          <p:cNvSpPr/>
          <p:nvPr/>
        </p:nvSpPr>
        <p:spPr>
          <a:xfrm>
            <a:off x="7656165" y="439006"/>
            <a:ext cx="757238" cy="219075"/>
          </a:xfrm>
          <a:prstGeom prst="roundRect">
            <a:avLst>
              <a:gd name="adj" fmla="val 52174"/>
            </a:avLst>
          </a:prstGeom>
          <a:solidFill>
            <a:srgbClr val="FFBCA6"/>
          </a:solidFill>
          <a:ln/>
        </p:spPr>
        <p:txBody>
          <a:bodyPr wrap="square" lIns="0" tIns="0" rIns="0" bIns="0" rtlCol="0" anchor="ctr"/>
          <a:lstStyle/>
          <a:p>
            <a:pPr algn="l" indent="0" marL="0">
              <a:lnSpc>
                <a:spcPts val="1080"/>
              </a:lnSpc>
              <a:buNone/>
            </a:pPr>
            <a:r>
              <a:rPr lang="en-US" sz="700" b="1" dirty="0">
                <a:solidFill>
                  <a:srgbClr val="2D3748"/>
                </a:solidFill>
                <a:latin typeface="DM Sans" pitchFamily="34" charset="0"/>
                <a:ea typeface="DM Sans" pitchFamily="34" charset="-122"/>
                <a:cs typeface="DM Sans" pitchFamily="34" charset="-120"/>
              </a:rPr>
              <a:t>Pitch Deck</a:t>
            </a:r>
            <a:endParaRPr lang="en-US" sz="700" dirty="0"/>
          </a:p>
        </p:txBody>
      </p:sp>
      <p:sp>
        <p:nvSpPr>
          <p:cNvPr id="12" name="Text 10"/>
          <p:cNvSpPr/>
          <p:nvPr/>
        </p:nvSpPr>
        <p:spPr>
          <a:xfrm>
            <a:off x="730672" y="1301911"/>
            <a:ext cx="790575" cy="190500"/>
          </a:xfrm>
          <a:prstGeom prst="roundRect">
            <a:avLst>
              <a:gd name="adj" fmla="val 28800"/>
            </a:avLst>
          </a:prstGeom>
          <a:solidFill>
            <a:srgbClr val="E2E8F0"/>
          </a:solidFill>
          <a:ln/>
        </p:spPr>
        <p:txBody>
          <a:bodyPr wrap="square" lIns="0" tIns="0" rIns="0" bIns="0" rtlCol="0" anchor="ctr"/>
          <a:lstStyle/>
          <a:p>
            <a:pPr algn="l" indent="0" marL="0">
              <a:lnSpc>
                <a:spcPts val="1080"/>
              </a:lnSpc>
              <a:spcAft>
                <a:spcPts val="810"/>
              </a:spcAft>
              <a:buNone/>
            </a:pPr>
            <a:r>
              <a:rPr lang="en-US" sz="700" b="1" dirty="0">
                <a:solidFill>
                  <a:srgbClr val="4A5568"/>
                </a:solidFill>
                <a:latin typeface="DM Sans" pitchFamily="34" charset="0"/>
                <a:ea typeface="DM Sans" pitchFamily="34" charset="-122"/>
                <a:cs typeface="DM Sans" pitchFamily="34" charset="-120"/>
              </a:rPr>
              <a:t>2026 PITCH</a:t>
            </a:r>
            <a:endParaRPr lang="en-US" sz="700" dirty="0"/>
          </a:p>
        </p:txBody>
      </p:sp>
      <p:sp>
        <p:nvSpPr>
          <p:cNvPr id="13" name="Text 11"/>
          <p:cNvSpPr/>
          <p:nvPr/>
        </p:nvSpPr>
        <p:spPr>
          <a:xfrm>
            <a:off x="731490" y="1594247"/>
            <a:ext cx="5486400" cy="914400"/>
          </a:xfrm>
          <a:prstGeom prst="rect">
            <a:avLst/>
          </a:prstGeom>
          <a:ln/>
        </p:spPr>
        <p:txBody>
          <a:bodyPr wrap="square" lIns="0" tIns="0" rIns="0" bIns="0" rtlCol="0" anchor="t"/>
          <a:lstStyle/>
          <a:p>
            <a:pPr algn="l" indent="0" marL="0">
              <a:lnSpc>
                <a:spcPts val="7200"/>
              </a:lnSpc>
              <a:buNone/>
            </a:pPr>
            <a:r>
              <a:rPr lang="en-US" sz="7200" b="1" dirty="0">
                <a:solidFill>
                  <a:srgbClr val="1A202C"/>
                </a:solidFill>
                <a:latin typeface="DM Sans" pitchFamily="34" charset="0"/>
                <a:ea typeface="DM Sans" pitchFamily="34" charset="-122"/>
                <a:cs typeface="DM Sans" pitchFamily="34" charset="-120"/>
              </a:rPr>
              <a:t>Fade.</a:t>
            </a:r>
            <a:endParaRPr lang="en-US" sz="7200" dirty="0"/>
          </a:p>
        </p:txBody>
      </p:sp>
      <p:sp>
        <p:nvSpPr>
          <p:cNvPr id="14" name="Text 12"/>
          <p:cNvSpPr/>
          <p:nvPr/>
        </p:nvSpPr>
        <p:spPr>
          <a:xfrm>
            <a:off x="731490" y="2663354"/>
            <a:ext cx="5029200" cy="547687"/>
          </a:xfrm>
          <a:prstGeom prst="rect">
            <a:avLst/>
          </a:prstGeom>
          <a:ln/>
        </p:spPr>
        <p:txBody>
          <a:bodyPr wrap="square" lIns="0" tIns="0" rIns="0" bIns="0" rtlCol="0" anchor="t"/>
          <a:lstStyle/>
          <a:p>
            <a:pPr algn="l" indent="0" marL="0">
              <a:lnSpc>
                <a:spcPts val="2160"/>
              </a:lnSpc>
              <a:spcBef>
                <a:spcPts val="1215"/>
              </a:spcBef>
              <a:buNone/>
            </a:pPr>
            <a:r>
              <a:rPr lang="en-US" sz="1700" dirty="0">
                <a:solidFill>
                  <a:srgbClr val="2D3748"/>
                </a:solidFill>
                <a:latin typeface="DM Sans" pitchFamily="34" charset="0"/>
                <a:ea typeface="DM Sans" pitchFamily="34" charset="-122"/>
                <a:cs typeface="DM Sans" pitchFamily="34" charset="-120"/>
              </a:rPr>
              <a:t>Your accounts, anywhere. Without leaving a trace.</a:t>
            </a:r>
            <a:endParaRPr lang="en-US" sz="1700" dirty="0"/>
          </a:p>
        </p:txBody>
      </p:sp>
      <p:sp>
        <p:nvSpPr>
          <p:cNvPr id="15" name="Shape 13"/>
          <p:cNvSpPr/>
          <p:nvPr/>
        </p:nvSpPr>
        <p:spPr>
          <a:xfrm>
            <a:off x="731007" y="4332796"/>
            <a:ext cx="7681912" cy="400050"/>
          </a:xfrm>
          <a:prstGeom prst="rect">
            <a:avLst/>
          </a:prstGeom>
          <a:ln/>
        </p:spPr>
      </p:sp>
      <p:sp>
        <p:nvSpPr>
          <p:cNvPr id="16" name="Text 14"/>
          <p:cNvSpPr/>
          <p:nvPr/>
        </p:nvSpPr>
        <p:spPr>
          <a:xfrm>
            <a:off x="732011" y="4554699"/>
            <a:ext cx="1452562" cy="176212"/>
          </a:xfrm>
          <a:prstGeom prst="rect">
            <a:avLst/>
          </a:prstGeom>
          <a:ln/>
        </p:spPr>
        <p:txBody>
          <a:bodyPr wrap="square" lIns="0" tIns="0" rIns="0" bIns="0" rtlCol="0" anchor="t"/>
          <a:lstStyle/>
          <a:p>
            <a:pPr algn="l" indent="0" marL="0">
              <a:lnSpc>
                <a:spcPts val="1404"/>
              </a:lnSpc>
              <a:buNone/>
            </a:pPr>
            <a:r>
              <a:rPr lang="en-US" sz="900" dirty="0">
                <a:solidFill>
                  <a:srgbClr val="4A5568"/>
                </a:solidFill>
                <a:latin typeface="DM Sans" pitchFamily="34" charset="0"/>
                <a:ea typeface="DM Sans" pitchFamily="34" charset="-122"/>
                <a:cs typeface="DM Sans" pitchFamily="34" charset="-120"/>
              </a:rPr>
              <a:t>A pitch by Dima Alhajajlah</a:t>
            </a:r>
            <a:endParaRPr lang="en-US" sz="900" dirty="0"/>
          </a:p>
        </p:txBody>
      </p:sp>
      <p:sp>
        <p:nvSpPr>
          <p:cNvPr id="17" name="Shape 15"/>
          <p:cNvSpPr/>
          <p:nvPr/>
        </p:nvSpPr>
        <p:spPr>
          <a:xfrm>
            <a:off x="7955979" y="4597524"/>
            <a:ext cx="90488" cy="90488"/>
          </a:xfrm>
          <a:prstGeom prst="ellipse">
            <a:avLst/>
          </a:prstGeom>
          <a:solidFill>
            <a:srgbClr val="FFBCA6"/>
          </a:solidFill>
          <a:ln/>
        </p:spPr>
      </p:sp>
      <p:sp>
        <p:nvSpPr>
          <p:cNvPr id="18" name="Shape 16"/>
          <p:cNvSpPr/>
          <p:nvPr/>
        </p:nvSpPr>
        <p:spPr>
          <a:xfrm>
            <a:off x="8138740" y="4597524"/>
            <a:ext cx="90488" cy="90488"/>
          </a:xfrm>
          <a:prstGeom prst="ellipse">
            <a:avLst/>
          </a:prstGeom>
          <a:solidFill>
            <a:srgbClr val="AED9E0"/>
          </a:solidFill>
          <a:ln/>
        </p:spPr>
      </p:sp>
      <p:sp>
        <p:nvSpPr>
          <p:cNvPr id="19" name="Shape 17"/>
          <p:cNvSpPr/>
          <p:nvPr/>
        </p:nvSpPr>
        <p:spPr>
          <a:xfrm>
            <a:off x="8321501" y="4597524"/>
            <a:ext cx="90488" cy="90488"/>
          </a:xfrm>
          <a:prstGeom prst="ellipse">
            <a:avLst/>
          </a:prstGeom>
          <a:solidFill>
            <a:srgbClr val="C8B6FF"/>
          </a:solidFill>
          <a:ln/>
        </p:spPr>
      </p:sp>
      <p:pic>
        <p:nvPicPr>
          <p:cNvPr id="2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007" y="4332796"/>
            <a:ext cx="7681912" cy="4000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5486400" y="-771525"/>
            <a:ext cx="4114800" cy="4114800"/>
          </a:xfrm>
          <a:prstGeom prst="ellipse">
            <a:avLst/>
          </a:prstGeom>
          <a:solidFill>
            <a:srgbClr val="F4E8C1"/>
          </a:solidFill>
          <a:ln/>
        </p:spPr>
      </p:sp>
      <p:sp>
        <p:nvSpPr>
          <p:cNvPr id="4" name="Shape 2"/>
          <p:cNvSpPr/>
          <p:nvPr/>
        </p:nvSpPr>
        <p:spPr>
          <a:xfrm>
            <a:off x="-914400" y="2457450"/>
            <a:ext cx="3200400" cy="3200400"/>
          </a:xfrm>
          <a:prstGeom prst="ellipse">
            <a:avLst/>
          </a:prstGeom>
          <a:solidFill>
            <a:srgbClr val="AED9E0"/>
          </a:solidFill>
          <a:ln/>
        </p:spPr>
      </p:sp>
      <p:sp>
        <p:nvSpPr>
          <p:cNvPr id="5" name="Shape 3"/>
          <p:cNvSpPr/>
          <p:nvPr/>
        </p:nvSpPr>
        <p:spPr>
          <a:xfrm rot="900000">
            <a:off x="5304420" y="926716"/>
            <a:ext cx="638175" cy="2009775"/>
          </a:xfrm>
          <a:prstGeom prst="roundRect">
            <a:avLst>
              <a:gd name="adj" fmla="val 71642"/>
            </a:avLst>
          </a:prstGeom>
          <a:solidFill>
            <a:srgbClr val="FFBCA6"/>
          </a:solidFill>
          <a:ln/>
        </p:spPr>
      </p:sp>
      <p:sp>
        <p:nvSpPr>
          <p:cNvPr id="6" name="Shape 4"/>
          <p:cNvSpPr/>
          <p:nvPr/>
        </p:nvSpPr>
        <p:spPr>
          <a:xfrm>
            <a:off x="7315200" y="2828925"/>
            <a:ext cx="914400" cy="914400"/>
          </a:xfrm>
          <a:prstGeom prst="ellipse">
            <a:avLst/>
          </a:prstGeom>
          <a:solidFill>
            <a:srgbClr val="C8B6FF"/>
          </a:solidFill>
          <a:ln/>
        </p:spPr>
      </p:sp>
      <p:sp>
        <p:nvSpPr>
          <p:cNvPr id="7" name="Shape 5"/>
          <p:cNvSpPr/>
          <p:nvPr/>
        </p:nvSpPr>
        <p:spPr>
          <a:xfrm>
            <a:off x="7222852" y="616223"/>
            <a:ext cx="276225" cy="276225"/>
          </a:xfrm>
          <a:prstGeom prst="ellipse">
            <a:avLst/>
          </a:prstGeom>
          <a:solidFill>
            <a:srgbClr val="AED9E0"/>
          </a:solidFill>
          <a:ln/>
        </p:spPr>
      </p:sp>
      <p:sp>
        <p:nvSpPr>
          <p:cNvPr id="8" name="Shape 6"/>
          <p:cNvSpPr/>
          <p:nvPr/>
        </p:nvSpPr>
        <p:spPr>
          <a:xfrm>
            <a:off x="547613" y="309525"/>
            <a:ext cx="8048625" cy="4524375"/>
          </a:xfrm>
          <a:prstGeom prst="roundRect">
            <a:avLst>
              <a:gd name="adj" fmla="val 817"/>
            </a:avLst>
          </a:prstGeom>
          <a:solidFill>
            <a:srgbClr val="FFFFFF">
              <a:alpha val="55000"/>
            </a:srgbClr>
          </a:solidFill>
          <a:ln/>
        </p:spPr>
      </p:sp>
      <p:sp>
        <p:nvSpPr>
          <p:cNvPr id="9" name="Text 7"/>
          <p:cNvSpPr/>
          <p:nvPr/>
        </p:nvSpPr>
        <p:spPr>
          <a:xfrm>
            <a:off x="913358" y="513308"/>
            <a:ext cx="276225" cy="276225"/>
          </a:xfrm>
          <a:prstGeom prst="roundRect">
            <a:avLst>
              <a:gd name="adj" fmla="val 21917"/>
            </a:avLst>
          </a:prstGeom>
          <a:solidFill>
            <a:srgbClr val="2D3748"/>
          </a:solidFill>
          <a:ln/>
        </p:spPr>
        <p:txBody>
          <a:bodyPr wrap="square" lIns="0" tIns="0" rIns="0" bIns="0" rtlCol="0" anchor="ctr"/>
          <a:lstStyle/>
          <a:p>
            <a:pPr algn="ctr" indent="0" marL="0">
              <a:lnSpc>
                <a:spcPts val="1620"/>
              </a:lnSpc>
              <a:buNone/>
            </a:pPr>
            <a:r>
              <a:rPr lang="en-US" sz="1000" b="1" dirty="0">
                <a:solidFill>
                  <a:srgbClr val="FFFFFF"/>
                </a:solidFill>
                <a:latin typeface="DM Sans" pitchFamily="34" charset="0"/>
                <a:ea typeface="DM Sans" pitchFamily="34" charset="-122"/>
                <a:cs typeface="DM Sans" pitchFamily="34" charset="-120"/>
              </a:rPr>
              <a:t>F</a:t>
            </a:r>
            <a:endParaRPr lang="en-US" sz="1000" dirty="0"/>
          </a:p>
        </p:txBody>
      </p:sp>
      <p:sp>
        <p:nvSpPr>
          <p:cNvPr id="10" name="Text 8"/>
          <p:cNvSpPr/>
          <p:nvPr/>
        </p:nvSpPr>
        <p:spPr>
          <a:xfrm>
            <a:off x="1279959" y="549027"/>
            <a:ext cx="595313" cy="204787"/>
          </a:xfrm>
          <a:prstGeom prst="rect">
            <a:avLst/>
          </a:prstGeom>
          <a:ln/>
        </p:spPr>
        <p:txBody>
          <a:bodyPr wrap="square" lIns="0" tIns="0" rIns="0" bIns="0" rtlCol="0" anchor="t"/>
          <a:lstStyle/>
          <a:p>
            <a:pPr algn="l" indent="0" marL="0">
              <a:lnSpc>
                <a:spcPts val="1620"/>
              </a:lnSpc>
              <a:buNone/>
            </a:pPr>
            <a:r>
              <a:rPr lang="en-US" sz="1000" b="1" dirty="0">
                <a:solidFill>
                  <a:srgbClr val="2D3748"/>
                </a:solidFill>
                <a:latin typeface="DM Sans" pitchFamily="34" charset="0"/>
                <a:ea typeface="DM Sans" pitchFamily="34" charset="-122"/>
                <a:cs typeface="DM Sans" pitchFamily="34" charset="-120"/>
              </a:rPr>
              <a:t>fade.app</a:t>
            </a:r>
            <a:endParaRPr lang="en-US" sz="1000" dirty="0"/>
          </a:p>
        </p:txBody>
      </p:sp>
      <p:sp>
        <p:nvSpPr>
          <p:cNvPr id="11" name="Text 9"/>
          <p:cNvSpPr/>
          <p:nvPr/>
        </p:nvSpPr>
        <p:spPr>
          <a:xfrm>
            <a:off x="7395009" y="541846"/>
            <a:ext cx="833437" cy="219075"/>
          </a:xfrm>
          <a:prstGeom prst="roundRect">
            <a:avLst>
              <a:gd name="adj" fmla="val 52174"/>
            </a:avLst>
          </a:prstGeom>
          <a:solidFill>
            <a:srgbClr val="FFBCA6"/>
          </a:solidFill>
          <a:ln/>
        </p:spPr>
        <p:txBody>
          <a:bodyPr wrap="square" lIns="0" tIns="0" rIns="0" bIns="0" rtlCol="0" anchor="ctr"/>
          <a:lstStyle/>
          <a:p>
            <a:pPr algn="l" indent="0" marL="0">
              <a:lnSpc>
                <a:spcPts val="1080"/>
              </a:lnSpc>
              <a:buNone/>
            </a:pPr>
            <a:r>
              <a:rPr lang="en-US" sz="700" b="1" dirty="0">
                <a:solidFill>
                  <a:srgbClr val="2D3748"/>
                </a:solidFill>
                <a:latin typeface="DM Sans" pitchFamily="34" charset="0"/>
                <a:ea typeface="DM Sans" pitchFamily="34" charset="-122"/>
                <a:cs typeface="DM Sans" pitchFamily="34" charset="-120"/>
              </a:rPr>
              <a:t>The Problem</a:t>
            </a:r>
            <a:endParaRPr lang="en-US" sz="700" dirty="0"/>
          </a:p>
        </p:txBody>
      </p:sp>
      <p:sp>
        <p:nvSpPr>
          <p:cNvPr id="12" name="Text 10"/>
          <p:cNvSpPr/>
          <p:nvPr/>
        </p:nvSpPr>
        <p:spPr>
          <a:xfrm>
            <a:off x="914326" y="890439"/>
            <a:ext cx="5943600" cy="962025"/>
          </a:xfrm>
          <a:prstGeom prst="rect">
            <a:avLst/>
          </a:prstGeom>
          <a:ln/>
        </p:spPr>
        <p:txBody>
          <a:bodyPr wrap="square" lIns="0" tIns="0" rIns="0" bIns="0" rtlCol="0" anchor="t"/>
          <a:lstStyle/>
          <a:p>
            <a:pPr algn="l" indent="0" marL="0">
              <a:lnSpc>
                <a:spcPts val="3780"/>
              </a:lnSpc>
              <a:spcAft>
                <a:spcPts val="1215"/>
              </a:spcAft>
              <a:buNone/>
            </a:pPr>
            <a:r>
              <a:rPr lang="en-US" sz="3600" b="1" dirty="0">
                <a:solidFill>
                  <a:srgbClr val="1A202C"/>
                </a:solidFill>
                <a:latin typeface="DM Sans" pitchFamily="34" charset="0"/>
                <a:ea typeface="DM Sans" pitchFamily="34" charset="-122"/>
                <a:cs typeface="DM Sans" pitchFamily="34" charset="-120"/>
              </a:rPr>
              <a:t>Public PCs are stuck in 2005.</a:t>
            </a:r>
            <a:endParaRPr lang="en-US" sz="3600" dirty="0"/>
          </a:p>
        </p:txBody>
      </p:sp>
      <p:sp>
        <p:nvSpPr>
          <p:cNvPr id="13" name="Text 11"/>
          <p:cNvSpPr/>
          <p:nvPr/>
        </p:nvSpPr>
        <p:spPr>
          <a:xfrm>
            <a:off x="914326" y="2005310"/>
            <a:ext cx="5486400" cy="933450"/>
          </a:xfrm>
          <a:prstGeom prst="rect">
            <a:avLst/>
          </a:prstGeom>
          <a:ln/>
        </p:spPr>
        <p:txBody>
          <a:bodyPr wrap="square" lIns="0" tIns="0" rIns="0" bIns="0" rtlCol="0" anchor="t"/>
          <a:lstStyle/>
          <a:p>
            <a:pPr algn="l" indent="0" marL="0">
              <a:lnSpc>
                <a:spcPts val="1836"/>
              </a:lnSpc>
              <a:spcAft>
                <a:spcPts val="1620"/>
              </a:spcAft>
              <a:buNone/>
            </a:pPr>
            <a:r>
              <a:rPr lang="en-US" sz="1200" dirty="0">
                <a:solidFill>
                  <a:srgbClr val="4A5568"/>
                </a:solidFill>
                <a:latin typeface="DM Sans" pitchFamily="34" charset="0"/>
                <a:ea typeface="DM Sans" pitchFamily="34" charset="-122"/>
                <a:cs typeface="DM Sans" pitchFamily="34" charset="-120"/>
              </a:rPr>
              <a:t>Every shared computer — libraries, hotels, classrooms, internet cafes — still asks people to type passwords, click "stay logged in", and remember to sign out. Most don't. Tokens, sessions and personal data get left behind on machines they'll never touch again.</a:t>
            </a:r>
            <a:endParaRPr lang="en-US" sz="1200" dirty="0"/>
          </a:p>
        </p:txBody>
      </p:sp>
      <p:sp>
        <p:nvSpPr>
          <p:cNvPr id="14" name="Shape 12"/>
          <p:cNvSpPr/>
          <p:nvPr/>
        </p:nvSpPr>
        <p:spPr>
          <a:xfrm>
            <a:off x="915293" y="3142878"/>
            <a:ext cx="2314575" cy="1347788"/>
          </a:xfrm>
          <a:prstGeom prst="roundRect">
            <a:avLst>
              <a:gd name="adj" fmla="val 6904"/>
            </a:avLst>
          </a:prstGeom>
          <a:solidFill>
            <a:srgbClr val="FFFFFF"/>
          </a:solidFill>
          <a:ln/>
          <a:effectLst>
            <a:outerShdw sx="100000" sy="100000" kx="0" ky="0" algn="bl" rotWithShape="0" blurRad="182880" dist="91440" dir="5400000">
              <a:srgbClr val="000000">
                <a:alpha val="5000"/>
              </a:srgbClr>
            </a:outerShdw>
          </a:effectLst>
        </p:spPr>
      </p:sp>
      <p:sp>
        <p:nvSpPr>
          <p:cNvPr id="15" name="Shape 13"/>
          <p:cNvSpPr/>
          <p:nvPr/>
        </p:nvSpPr>
        <p:spPr>
          <a:xfrm>
            <a:off x="1114499" y="3344168"/>
            <a:ext cx="276225" cy="276225"/>
          </a:xfrm>
          <a:prstGeom prst="ellipse">
            <a:avLst/>
          </a:prstGeom>
          <a:solidFill>
            <a:srgbClr val="FFBCA6"/>
          </a:solidFill>
          <a:ln/>
        </p:spPr>
      </p:sp>
      <p:sp>
        <p:nvSpPr>
          <p:cNvPr id="16" name="Text 14"/>
          <p:cNvSpPr/>
          <p:nvPr/>
        </p:nvSpPr>
        <p:spPr>
          <a:xfrm>
            <a:off x="1115318" y="3696407"/>
            <a:ext cx="1914525" cy="233362"/>
          </a:xfrm>
          <a:prstGeom prst="rect">
            <a:avLst/>
          </a:prstGeom>
          <a:ln/>
        </p:spPr>
        <p:txBody>
          <a:bodyPr wrap="square" lIns="0" tIns="0" rIns="0" bIns="0" rtlCol="0" anchor="t"/>
          <a:lstStyle/>
          <a:p>
            <a:pPr algn="l" indent="0" marL="0">
              <a:lnSpc>
                <a:spcPts val="1836"/>
              </a:lnSpc>
              <a:spcAft>
                <a:spcPts val="405"/>
              </a:spcAft>
              <a:buNone/>
            </a:pPr>
            <a:r>
              <a:rPr lang="en-US" sz="1200" b="1" dirty="0">
                <a:solidFill>
                  <a:srgbClr val="2D3748"/>
                </a:solidFill>
                <a:latin typeface="DM Sans" pitchFamily="34" charset="0"/>
                <a:ea typeface="DM Sans" pitchFamily="34" charset="-122"/>
                <a:cs typeface="DM Sans" pitchFamily="34" charset="-120"/>
              </a:rPr>
              <a:t>Type-and-pray logins</a:t>
            </a:r>
            <a:endParaRPr lang="en-US" sz="1200" dirty="0"/>
          </a:p>
        </p:txBody>
      </p:sp>
      <p:sp>
        <p:nvSpPr>
          <p:cNvPr id="17" name="Text 15"/>
          <p:cNvSpPr/>
          <p:nvPr/>
        </p:nvSpPr>
        <p:spPr>
          <a:xfrm>
            <a:off x="1115318" y="3979962"/>
            <a:ext cx="1914525" cy="309562"/>
          </a:xfrm>
          <a:prstGeom prst="rect">
            <a:avLst/>
          </a:prstGeom>
          <a:ln/>
        </p:spPr>
        <p:txBody>
          <a:bodyPr wrap="square" lIns="0" tIns="0" rIns="0" bIns="0" rtlCol="0" anchor="t"/>
          <a:lstStyle/>
          <a:p>
            <a:pPr algn="l" indent="0" marL="0">
              <a:lnSpc>
                <a:spcPts val="1210"/>
              </a:lnSpc>
              <a:buNone/>
            </a:pPr>
            <a:r>
              <a:rPr lang="en-US" sz="800" dirty="0">
                <a:solidFill>
                  <a:srgbClr val="718096"/>
                </a:solidFill>
                <a:latin typeface="DM Sans" pitchFamily="34" charset="0"/>
                <a:ea typeface="DM Sans" pitchFamily="34" charset="-122"/>
                <a:cs typeface="DM Sans" pitchFamily="34" charset="-120"/>
              </a:rPr>
              <a:t>Passwords typed on a keyboard you can't trust.</a:t>
            </a:r>
            <a:endParaRPr lang="en-US" sz="800" dirty="0"/>
          </a:p>
        </p:txBody>
      </p:sp>
      <p:sp>
        <p:nvSpPr>
          <p:cNvPr id="18" name="Shape 16"/>
          <p:cNvSpPr/>
          <p:nvPr/>
        </p:nvSpPr>
        <p:spPr>
          <a:xfrm>
            <a:off x="3414638" y="3142878"/>
            <a:ext cx="2314575" cy="1347788"/>
          </a:xfrm>
          <a:prstGeom prst="roundRect">
            <a:avLst>
              <a:gd name="adj" fmla="val 6904"/>
            </a:avLst>
          </a:prstGeom>
          <a:solidFill>
            <a:srgbClr val="FFFFFF"/>
          </a:solidFill>
          <a:ln/>
          <a:effectLst>
            <a:outerShdw sx="100000" sy="100000" kx="0" ky="0" algn="bl" rotWithShape="0" blurRad="182880" dist="91440" dir="5400000">
              <a:srgbClr val="000000">
                <a:alpha val="5000"/>
              </a:srgbClr>
            </a:outerShdw>
          </a:effectLst>
        </p:spPr>
      </p:sp>
      <p:sp>
        <p:nvSpPr>
          <p:cNvPr id="19" name="Shape 17"/>
          <p:cNvSpPr/>
          <p:nvPr/>
        </p:nvSpPr>
        <p:spPr>
          <a:xfrm>
            <a:off x="3613845" y="3344168"/>
            <a:ext cx="276225" cy="276225"/>
          </a:xfrm>
          <a:prstGeom prst="ellipse">
            <a:avLst/>
          </a:prstGeom>
          <a:solidFill>
            <a:srgbClr val="AED9E0"/>
          </a:solidFill>
          <a:ln/>
        </p:spPr>
      </p:sp>
      <p:sp>
        <p:nvSpPr>
          <p:cNvPr id="20" name="Text 18"/>
          <p:cNvSpPr/>
          <p:nvPr/>
        </p:nvSpPr>
        <p:spPr>
          <a:xfrm>
            <a:off x="3614663" y="3696407"/>
            <a:ext cx="1914525" cy="233362"/>
          </a:xfrm>
          <a:prstGeom prst="rect">
            <a:avLst/>
          </a:prstGeom>
          <a:ln/>
        </p:spPr>
        <p:txBody>
          <a:bodyPr wrap="square" lIns="0" tIns="0" rIns="0" bIns="0" rtlCol="0" anchor="t"/>
          <a:lstStyle/>
          <a:p>
            <a:pPr algn="l" indent="0" marL="0">
              <a:lnSpc>
                <a:spcPts val="1836"/>
              </a:lnSpc>
              <a:spcAft>
                <a:spcPts val="405"/>
              </a:spcAft>
              <a:buNone/>
            </a:pPr>
            <a:r>
              <a:rPr lang="en-US" sz="1200" b="1" dirty="0">
                <a:solidFill>
                  <a:srgbClr val="2D3748"/>
                </a:solidFill>
                <a:latin typeface="DM Sans" pitchFamily="34" charset="0"/>
                <a:ea typeface="DM Sans" pitchFamily="34" charset="-122"/>
                <a:cs typeface="DM Sans" pitchFamily="34" charset="-120"/>
              </a:rPr>
              <a:t>Sessions left behind</a:t>
            </a:r>
            <a:endParaRPr lang="en-US" sz="1200" dirty="0"/>
          </a:p>
        </p:txBody>
      </p:sp>
      <p:sp>
        <p:nvSpPr>
          <p:cNvPr id="21" name="Text 19"/>
          <p:cNvSpPr/>
          <p:nvPr/>
        </p:nvSpPr>
        <p:spPr>
          <a:xfrm>
            <a:off x="3614663" y="3979962"/>
            <a:ext cx="1914525" cy="309562"/>
          </a:xfrm>
          <a:prstGeom prst="rect">
            <a:avLst/>
          </a:prstGeom>
          <a:ln/>
        </p:spPr>
        <p:txBody>
          <a:bodyPr wrap="square" lIns="0" tIns="0" rIns="0" bIns="0" rtlCol="0" anchor="t"/>
          <a:lstStyle/>
          <a:p>
            <a:pPr algn="l" indent="0" marL="0">
              <a:lnSpc>
                <a:spcPts val="1210"/>
              </a:lnSpc>
              <a:buNone/>
            </a:pPr>
            <a:r>
              <a:rPr lang="en-US" sz="800" dirty="0">
                <a:solidFill>
                  <a:srgbClr val="718096"/>
                </a:solidFill>
                <a:latin typeface="DM Sans" pitchFamily="34" charset="0"/>
                <a:ea typeface="DM Sans" pitchFamily="34" charset="-122"/>
                <a:cs typeface="DM Sans" pitchFamily="34" charset="-120"/>
              </a:rPr>
              <a:t>Cookies and cached inboxes the next user inherits.</a:t>
            </a:r>
            <a:endParaRPr lang="en-US" sz="800" dirty="0"/>
          </a:p>
        </p:txBody>
      </p:sp>
      <p:sp>
        <p:nvSpPr>
          <p:cNvPr id="22" name="Shape 20"/>
          <p:cNvSpPr/>
          <p:nvPr/>
        </p:nvSpPr>
        <p:spPr>
          <a:xfrm>
            <a:off x="5913983" y="3142878"/>
            <a:ext cx="2314575" cy="1347788"/>
          </a:xfrm>
          <a:prstGeom prst="roundRect">
            <a:avLst>
              <a:gd name="adj" fmla="val 6904"/>
            </a:avLst>
          </a:prstGeom>
          <a:solidFill>
            <a:srgbClr val="FFFFFF"/>
          </a:solidFill>
          <a:ln/>
          <a:effectLst>
            <a:outerShdw sx="100000" sy="100000" kx="0" ky="0" algn="bl" rotWithShape="0" blurRad="182880" dist="91440" dir="5400000">
              <a:srgbClr val="000000">
                <a:alpha val="5000"/>
              </a:srgbClr>
            </a:outerShdw>
          </a:effectLst>
        </p:spPr>
      </p:sp>
      <p:sp>
        <p:nvSpPr>
          <p:cNvPr id="23" name="Shape 21"/>
          <p:cNvSpPr/>
          <p:nvPr/>
        </p:nvSpPr>
        <p:spPr>
          <a:xfrm>
            <a:off x="6113190" y="3344168"/>
            <a:ext cx="276225" cy="276225"/>
          </a:xfrm>
          <a:prstGeom prst="ellipse">
            <a:avLst/>
          </a:prstGeom>
          <a:solidFill>
            <a:srgbClr val="C8B6FF"/>
          </a:solidFill>
          <a:ln/>
        </p:spPr>
      </p:sp>
      <p:sp>
        <p:nvSpPr>
          <p:cNvPr id="24" name="Text 22"/>
          <p:cNvSpPr/>
          <p:nvPr/>
        </p:nvSpPr>
        <p:spPr>
          <a:xfrm>
            <a:off x="6114008" y="3696407"/>
            <a:ext cx="1914525" cy="233362"/>
          </a:xfrm>
          <a:prstGeom prst="rect">
            <a:avLst/>
          </a:prstGeom>
          <a:ln/>
        </p:spPr>
        <p:txBody>
          <a:bodyPr wrap="square" lIns="0" tIns="0" rIns="0" bIns="0" rtlCol="0" anchor="t"/>
          <a:lstStyle/>
          <a:p>
            <a:pPr algn="l" indent="0" marL="0">
              <a:lnSpc>
                <a:spcPts val="1836"/>
              </a:lnSpc>
              <a:spcAft>
                <a:spcPts val="405"/>
              </a:spcAft>
              <a:buNone/>
            </a:pPr>
            <a:r>
              <a:rPr lang="en-US" sz="1200" b="1" dirty="0">
                <a:solidFill>
                  <a:srgbClr val="2D3748"/>
                </a:solidFill>
                <a:latin typeface="DM Sans" pitchFamily="34" charset="0"/>
                <a:ea typeface="DM Sans" pitchFamily="34" charset="-122"/>
                <a:cs typeface="DM Sans" pitchFamily="34" charset="-120"/>
              </a:rPr>
              <a:t>Tokens nobody owns</a:t>
            </a:r>
            <a:endParaRPr lang="en-US" sz="1200" dirty="0"/>
          </a:p>
        </p:txBody>
      </p:sp>
      <p:sp>
        <p:nvSpPr>
          <p:cNvPr id="25" name="Text 23"/>
          <p:cNvSpPr/>
          <p:nvPr/>
        </p:nvSpPr>
        <p:spPr>
          <a:xfrm>
            <a:off x="6114008" y="3979962"/>
            <a:ext cx="1914525" cy="309562"/>
          </a:xfrm>
          <a:prstGeom prst="rect">
            <a:avLst/>
          </a:prstGeom>
          <a:ln/>
        </p:spPr>
        <p:txBody>
          <a:bodyPr wrap="square" lIns="0" tIns="0" rIns="0" bIns="0" rtlCol="0" anchor="t"/>
          <a:lstStyle/>
          <a:p>
            <a:pPr algn="l" indent="0" marL="0">
              <a:lnSpc>
                <a:spcPts val="1210"/>
              </a:lnSpc>
              <a:buNone/>
            </a:pPr>
            <a:r>
              <a:rPr lang="en-US" sz="800" dirty="0">
                <a:solidFill>
                  <a:srgbClr val="718096"/>
                </a:solidFill>
                <a:latin typeface="DM Sans" pitchFamily="34" charset="0"/>
                <a:ea typeface="DM Sans" pitchFamily="34" charset="-122"/>
                <a:cs typeface="DM Sans" pitchFamily="34" charset="-120"/>
              </a:rPr>
              <a:t>OAuth grants tied to a machine, not a person.</a:t>
            </a:r>
            <a:endParaRPr lang="en-US" sz="800" dirty="0"/>
          </a:p>
        </p:txBody>
      </p:sp>
      <p:sp>
        <p:nvSpPr>
          <p:cNvPr id="26" name="Shape 24"/>
          <p:cNvSpPr/>
          <p:nvPr/>
        </p:nvSpPr>
        <p:spPr>
          <a:xfrm>
            <a:off x="914326" y="4592762"/>
            <a:ext cx="7315200" cy="280987"/>
          </a:xfrm>
          <a:prstGeom prst="rect">
            <a:avLst/>
          </a:prstGeom>
          <a:ln/>
        </p:spPr>
      </p:sp>
      <p:sp>
        <p:nvSpPr>
          <p:cNvPr id="27" name="Text 25"/>
          <p:cNvSpPr/>
          <p:nvPr/>
        </p:nvSpPr>
        <p:spPr>
          <a:xfrm>
            <a:off x="915405" y="4708475"/>
            <a:ext cx="452437" cy="166688"/>
          </a:xfrm>
          <a:prstGeom prst="rect">
            <a:avLst/>
          </a:prstGeom>
          <a:ln/>
        </p:spPr>
        <p:txBody>
          <a:bodyPr wrap="square" lIns="0" tIns="0" rIns="0" bIns="0" rtlCol="0" anchor="t"/>
          <a:lstStyle/>
          <a:p>
            <a:pPr algn="l" indent="0" marL="0">
              <a:lnSpc>
                <a:spcPts val="1296"/>
              </a:lnSpc>
              <a:buNone/>
            </a:pPr>
            <a:r>
              <a:rPr lang="en-US" sz="800" dirty="0">
                <a:solidFill>
                  <a:srgbClr val="718096"/>
                </a:solidFill>
                <a:latin typeface="DM Sans" pitchFamily="34" charset="0"/>
                <a:ea typeface="DM Sans" pitchFamily="34" charset="-122"/>
                <a:cs typeface="DM Sans" pitchFamily="34" charset="-120"/>
              </a:rPr>
              <a:t>fade.app</a:t>
            </a:r>
            <a:endParaRPr lang="en-US" sz="800" dirty="0"/>
          </a:p>
        </p:txBody>
      </p:sp>
      <p:sp>
        <p:nvSpPr>
          <p:cNvPr id="28" name="Text 26"/>
          <p:cNvSpPr/>
          <p:nvPr/>
        </p:nvSpPr>
        <p:spPr>
          <a:xfrm>
            <a:off x="8090408" y="4708475"/>
            <a:ext cx="138113" cy="166688"/>
          </a:xfrm>
          <a:prstGeom prst="rect">
            <a:avLst/>
          </a:prstGeom>
          <a:ln/>
        </p:spPr>
        <p:txBody>
          <a:bodyPr wrap="square" lIns="0" tIns="0" rIns="0" bIns="0" rtlCol="0" anchor="t"/>
          <a:lstStyle/>
          <a:p>
            <a:pPr algn="l" indent="0" marL="0">
              <a:lnSpc>
                <a:spcPts val="1296"/>
              </a:lnSpc>
              <a:buNone/>
            </a:pPr>
            <a:r>
              <a:rPr lang="en-US" sz="800" b="1" dirty="0">
                <a:solidFill>
                  <a:srgbClr val="2D3748"/>
                </a:solidFill>
                <a:latin typeface="DM Sans" pitchFamily="34" charset="0"/>
                <a:ea typeface="DM Sans" pitchFamily="34" charset="-122"/>
                <a:cs typeface="DM Sans" pitchFamily="34" charset="-120"/>
              </a:rPr>
              <a:t>02</a:t>
            </a:r>
            <a:endParaRPr lang="en-US" sz="800" dirty="0"/>
          </a:p>
        </p:txBody>
      </p:sp>
      <p:pic>
        <p:nvPicPr>
          <p:cNvPr id="2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326" y="4592762"/>
            <a:ext cx="7315200" cy="28098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914400" y="-1028700"/>
            <a:ext cx="5029200" cy="5029200"/>
          </a:xfrm>
          <a:prstGeom prst="ellipse">
            <a:avLst/>
          </a:prstGeom>
          <a:solidFill>
            <a:srgbClr val="F4E8C1"/>
          </a:solidFill>
          <a:ln/>
        </p:spPr>
      </p:sp>
      <p:sp>
        <p:nvSpPr>
          <p:cNvPr id="4" name="Shape 2"/>
          <p:cNvSpPr/>
          <p:nvPr/>
        </p:nvSpPr>
        <p:spPr>
          <a:xfrm>
            <a:off x="5943600" y="1800225"/>
            <a:ext cx="4114800" cy="4114800"/>
          </a:xfrm>
          <a:prstGeom prst="ellipse">
            <a:avLst/>
          </a:prstGeom>
          <a:solidFill>
            <a:srgbClr val="AED9E0"/>
          </a:solidFill>
          <a:ln/>
        </p:spPr>
      </p:sp>
      <p:sp>
        <p:nvSpPr>
          <p:cNvPr id="5" name="Shape 3"/>
          <p:cNvSpPr/>
          <p:nvPr/>
        </p:nvSpPr>
        <p:spPr>
          <a:xfrm>
            <a:off x="7223336" y="616707"/>
            <a:ext cx="823913" cy="823913"/>
          </a:xfrm>
          <a:prstGeom prst="ellipse">
            <a:avLst/>
          </a:prstGeom>
          <a:solidFill>
            <a:srgbClr val="C8B6FF"/>
          </a:solidFill>
          <a:ln/>
        </p:spPr>
      </p:sp>
      <p:sp>
        <p:nvSpPr>
          <p:cNvPr id="6" name="Shape 4"/>
          <p:cNvSpPr/>
          <p:nvPr/>
        </p:nvSpPr>
        <p:spPr>
          <a:xfrm rot="-720000">
            <a:off x="1097682" y="2570857"/>
            <a:ext cx="547687" cy="1647825"/>
          </a:xfrm>
          <a:prstGeom prst="roundRect">
            <a:avLst>
              <a:gd name="adj" fmla="val 83478"/>
            </a:avLst>
          </a:prstGeom>
          <a:solidFill>
            <a:srgbClr val="FFBCA6"/>
          </a:solidFill>
          <a:ln/>
        </p:spPr>
      </p:sp>
      <p:sp>
        <p:nvSpPr>
          <p:cNvPr id="7" name="Shape 5"/>
          <p:cNvSpPr/>
          <p:nvPr/>
        </p:nvSpPr>
        <p:spPr>
          <a:xfrm>
            <a:off x="731007" y="411882"/>
            <a:ext cx="7681912" cy="4319588"/>
          </a:xfrm>
          <a:prstGeom prst="roundRect">
            <a:avLst>
              <a:gd name="adj" fmla="val 896"/>
            </a:avLst>
          </a:prstGeom>
          <a:solidFill>
            <a:srgbClr val="FFFFFF">
              <a:alpha val="55000"/>
            </a:srgbClr>
          </a:solidFill>
          <a:ln/>
        </p:spPr>
      </p:sp>
      <p:sp>
        <p:nvSpPr>
          <p:cNvPr id="8" name="Text 6"/>
          <p:cNvSpPr/>
          <p:nvPr/>
        </p:nvSpPr>
        <p:spPr>
          <a:xfrm>
            <a:off x="1096268" y="616148"/>
            <a:ext cx="276225" cy="276225"/>
          </a:xfrm>
          <a:prstGeom prst="roundRect">
            <a:avLst>
              <a:gd name="adj" fmla="val 21917"/>
            </a:avLst>
          </a:prstGeom>
          <a:solidFill>
            <a:srgbClr val="2D3748"/>
          </a:solidFill>
          <a:ln/>
        </p:spPr>
        <p:txBody>
          <a:bodyPr wrap="square" lIns="0" tIns="0" rIns="0" bIns="0" rtlCol="0" anchor="ctr"/>
          <a:lstStyle/>
          <a:p>
            <a:pPr algn="ctr" indent="0" marL="0">
              <a:lnSpc>
                <a:spcPts val="1620"/>
              </a:lnSpc>
              <a:buNone/>
            </a:pPr>
            <a:r>
              <a:rPr lang="en-US" sz="1000" b="1" dirty="0">
                <a:solidFill>
                  <a:srgbClr val="FFFFFF"/>
                </a:solidFill>
                <a:latin typeface="DM Sans" pitchFamily="34" charset="0"/>
                <a:ea typeface="DM Sans" pitchFamily="34" charset="-122"/>
                <a:cs typeface="DM Sans" pitchFamily="34" charset="-120"/>
              </a:rPr>
              <a:t>F</a:t>
            </a:r>
            <a:endParaRPr lang="en-US" sz="1000" dirty="0"/>
          </a:p>
        </p:txBody>
      </p:sp>
      <p:sp>
        <p:nvSpPr>
          <p:cNvPr id="9" name="Text 7"/>
          <p:cNvSpPr/>
          <p:nvPr/>
        </p:nvSpPr>
        <p:spPr>
          <a:xfrm>
            <a:off x="1462869" y="651867"/>
            <a:ext cx="595313" cy="204787"/>
          </a:xfrm>
          <a:prstGeom prst="rect">
            <a:avLst/>
          </a:prstGeom>
          <a:ln/>
        </p:spPr>
        <p:txBody>
          <a:bodyPr wrap="square" lIns="0" tIns="0" rIns="0" bIns="0" rtlCol="0" anchor="t"/>
          <a:lstStyle/>
          <a:p>
            <a:pPr algn="l" indent="0" marL="0">
              <a:lnSpc>
                <a:spcPts val="1620"/>
              </a:lnSpc>
              <a:buNone/>
            </a:pPr>
            <a:r>
              <a:rPr lang="en-US" sz="1000" b="1" dirty="0">
                <a:solidFill>
                  <a:srgbClr val="2D3748"/>
                </a:solidFill>
                <a:latin typeface="DM Sans" pitchFamily="34" charset="0"/>
                <a:ea typeface="DM Sans" pitchFamily="34" charset="-122"/>
                <a:cs typeface="DM Sans" pitchFamily="34" charset="-120"/>
              </a:rPr>
              <a:t>fade.app</a:t>
            </a:r>
            <a:endParaRPr lang="en-US" sz="1000" dirty="0"/>
          </a:p>
        </p:txBody>
      </p:sp>
      <p:sp>
        <p:nvSpPr>
          <p:cNvPr id="10" name="Text 8"/>
          <p:cNvSpPr/>
          <p:nvPr/>
        </p:nvSpPr>
        <p:spPr>
          <a:xfrm>
            <a:off x="7352333" y="644686"/>
            <a:ext cx="695325" cy="219075"/>
          </a:xfrm>
          <a:prstGeom prst="roundRect">
            <a:avLst>
              <a:gd name="adj" fmla="val 52174"/>
            </a:avLst>
          </a:prstGeom>
          <a:solidFill>
            <a:srgbClr val="C8B6FF"/>
          </a:solidFill>
          <a:ln/>
        </p:spPr>
        <p:txBody>
          <a:bodyPr wrap="square" lIns="0" tIns="0" rIns="0" bIns="0" rtlCol="0" anchor="ctr"/>
          <a:lstStyle/>
          <a:p>
            <a:pPr algn="l" indent="0" marL="0">
              <a:lnSpc>
                <a:spcPts val="1080"/>
              </a:lnSpc>
              <a:buNone/>
            </a:pPr>
            <a:r>
              <a:rPr lang="en-US" sz="700" b="1" dirty="0">
                <a:solidFill>
                  <a:srgbClr val="2D3748"/>
                </a:solidFill>
                <a:latin typeface="DM Sans" pitchFamily="34" charset="0"/>
                <a:ea typeface="DM Sans" pitchFamily="34" charset="-122"/>
                <a:cs typeface="DM Sans" pitchFamily="34" charset="-120"/>
              </a:rPr>
              <a:t>The Pitch</a:t>
            </a:r>
            <a:endParaRPr lang="en-US" sz="700" dirty="0"/>
          </a:p>
        </p:txBody>
      </p:sp>
      <p:sp>
        <p:nvSpPr>
          <p:cNvPr id="11" name="Text 9"/>
          <p:cNvSpPr/>
          <p:nvPr/>
        </p:nvSpPr>
        <p:spPr>
          <a:xfrm>
            <a:off x="1098166" y="1187462"/>
            <a:ext cx="1652587" cy="190500"/>
          </a:xfrm>
          <a:prstGeom prst="roundRect">
            <a:avLst>
              <a:gd name="adj" fmla="val 28800"/>
            </a:avLst>
          </a:prstGeom>
          <a:solidFill>
            <a:srgbClr val="E2E8F0"/>
          </a:solidFill>
          <a:ln/>
        </p:spPr>
        <p:txBody>
          <a:bodyPr wrap="square" lIns="0" tIns="0" rIns="0" bIns="0" rtlCol="0" anchor="ctr"/>
          <a:lstStyle/>
          <a:p>
            <a:pPr algn="l" indent="0" marL="0">
              <a:lnSpc>
                <a:spcPts val="1080"/>
              </a:lnSpc>
              <a:spcAft>
                <a:spcPts val="1215"/>
              </a:spcAft>
              <a:buNone/>
            </a:pPr>
            <a:r>
              <a:rPr lang="en-US" sz="700" b="1" dirty="0">
                <a:solidFill>
                  <a:srgbClr val="4A5568"/>
                </a:solidFill>
                <a:latin typeface="DM Sans" pitchFamily="34" charset="0"/>
                <a:ea typeface="DM Sans" pitchFamily="34" charset="-122"/>
                <a:cs typeface="DM Sans" pitchFamily="34" charset="-120"/>
              </a:rPr>
              <a:t>THE IDEA, IN ONE SENTENCE</a:t>
            </a:r>
            <a:endParaRPr lang="en-US" sz="700" dirty="0"/>
          </a:p>
        </p:txBody>
      </p:sp>
      <p:sp>
        <p:nvSpPr>
          <p:cNvPr id="12" name="Text 10"/>
          <p:cNvSpPr/>
          <p:nvPr/>
        </p:nvSpPr>
        <p:spPr>
          <a:xfrm>
            <a:off x="1097719" y="1530176"/>
            <a:ext cx="6948488" cy="1852612"/>
          </a:xfrm>
          <a:prstGeom prst="rect">
            <a:avLst/>
          </a:prstGeom>
          <a:ln/>
        </p:spPr>
        <p:txBody>
          <a:bodyPr wrap="square" lIns="0" tIns="0" rIns="0" bIns="0" rtlCol="0" anchor="t"/>
          <a:lstStyle/>
          <a:p>
            <a:pPr algn="l" indent="0" marL="0">
              <a:lnSpc>
                <a:spcPts val="3643"/>
              </a:lnSpc>
              <a:buNone/>
            </a:pPr>
            <a:r>
              <a:rPr lang="en-US" sz="3300" b="1" dirty="0">
                <a:solidFill>
                  <a:srgbClr val="1A202C"/>
                </a:solidFill>
                <a:latin typeface="DM Sans" pitchFamily="34" charset="0"/>
                <a:ea typeface="DM Sans" pitchFamily="34" charset="-122"/>
                <a:cs typeface="DM Sans" pitchFamily="34" charset="-120"/>
              </a:rPr>
              <a:t>Your phone holds your accounts. A QR code makes them appear on a public screen. When you're done, they vanish.</a:t>
            </a:r>
            <a:endParaRPr lang="en-US" sz="3300" dirty="0"/>
          </a:p>
        </p:txBody>
      </p:sp>
      <p:sp>
        <p:nvSpPr>
          <p:cNvPr id="13" name="Shape 11"/>
          <p:cNvSpPr/>
          <p:nvPr/>
        </p:nvSpPr>
        <p:spPr>
          <a:xfrm>
            <a:off x="1097310" y="3686994"/>
            <a:ext cx="109537" cy="109537"/>
          </a:xfrm>
          <a:prstGeom prst="ellipse">
            <a:avLst/>
          </a:prstGeom>
          <a:solidFill>
            <a:srgbClr val="FFBCA6"/>
          </a:solidFill>
          <a:ln/>
        </p:spPr>
      </p:sp>
      <p:sp>
        <p:nvSpPr>
          <p:cNvPr id="14" name="Text 12"/>
          <p:cNvSpPr/>
          <p:nvPr/>
        </p:nvSpPr>
        <p:spPr>
          <a:xfrm>
            <a:off x="1345071" y="3639369"/>
            <a:ext cx="1933575" cy="204787"/>
          </a:xfrm>
          <a:prstGeom prst="rect">
            <a:avLst/>
          </a:prstGeom>
          <a:ln/>
        </p:spPr>
        <p:txBody>
          <a:bodyPr wrap="square" lIns="0" tIns="0" rIns="0" bIns="0" rtlCol="0" anchor="t"/>
          <a:lstStyle/>
          <a:p>
            <a:pPr algn="l" indent="0" marL="0">
              <a:lnSpc>
                <a:spcPts val="1620"/>
              </a:lnSpc>
              <a:buNone/>
            </a:pPr>
            <a:r>
              <a:rPr lang="en-US" sz="1000" dirty="0">
                <a:solidFill>
                  <a:srgbClr val="4A5568"/>
                </a:solidFill>
                <a:latin typeface="DM Sans" pitchFamily="34" charset="0"/>
                <a:ea typeface="DM Sans" pitchFamily="34" charset="-122"/>
                <a:cs typeface="DM Sans" pitchFamily="34" charset="-120"/>
              </a:rPr>
              <a:t>One-time setup on the phone</a:t>
            </a:r>
            <a:endParaRPr lang="en-US" sz="1000" dirty="0"/>
          </a:p>
        </p:txBody>
      </p:sp>
      <p:sp>
        <p:nvSpPr>
          <p:cNvPr id="15" name="Shape 13"/>
          <p:cNvSpPr/>
          <p:nvPr/>
        </p:nvSpPr>
        <p:spPr>
          <a:xfrm>
            <a:off x="3461705" y="3722675"/>
            <a:ext cx="38100" cy="38100"/>
          </a:xfrm>
          <a:prstGeom prst="ellipse">
            <a:avLst/>
          </a:prstGeom>
          <a:solidFill>
            <a:srgbClr val="CBD5E0"/>
          </a:solidFill>
          <a:ln/>
        </p:spPr>
      </p:sp>
      <p:sp>
        <p:nvSpPr>
          <p:cNvPr id="16" name="Shape 14"/>
          <p:cNvSpPr/>
          <p:nvPr/>
        </p:nvSpPr>
        <p:spPr>
          <a:xfrm>
            <a:off x="3681933" y="3686994"/>
            <a:ext cx="109537" cy="109537"/>
          </a:xfrm>
          <a:prstGeom prst="ellipse">
            <a:avLst/>
          </a:prstGeom>
          <a:solidFill>
            <a:srgbClr val="AED9E0"/>
          </a:solidFill>
          <a:ln/>
        </p:spPr>
      </p:sp>
      <p:sp>
        <p:nvSpPr>
          <p:cNvPr id="17" name="Text 15"/>
          <p:cNvSpPr/>
          <p:nvPr/>
        </p:nvSpPr>
        <p:spPr>
          <a:xfrm>
            <a:off x="3928430" y="3639369"/>
            <a:ext cx="1638300" cy="204787"/>
          </a:xfrm>
          <a:prstGeom prst="rect">
            <a:avLst/>
          </a:prstGeom>
          <a:ln/>
        </p:spPr>
        <p:txBody>
          <a:bodyPr wrap="square" lIns="0" tIns="0" rIns="0" bIns="0" rtlCol="0" anchor="t"/>
          <a:lstStyle/>
          <a:p>
            <a:pPr algn="l" indent="0" marL="0">
              <a:lnSpc>
                <a:spcPts val="1620"/>
              </a:lnSpc>
              <a:buNone/>
            </a:pPr>
            <a:r>
              <a:rPr lang="en-US" sz="1000" dirty="0">
                <a:solidFill>
                  <a:srgbClr val="4A5568"/>
                </a:solidFill>
                <a:latin typeface="DM Sans" pitchFamily="34" charset="0"/>
                <a:ea typeface="DM Sans" pitchFamily="34" charset="-122"/>
                <a:cs typeface="DM Sans" pitchFamily="34" charset="-120"/>
              </a:rPr>
              <a:t>Disposable on the screen</a:t>
            </a:r>
            <a:endParaRPr lang="en-US" sz="1000" dirty="0"/>
          </a:p>
        </p:txBody>
      </p:sp>
      <p:sp>
        <p:nvSpPr>
          <p:cNvPr id="18" name="Shape 16"/>
          <p:cNvSpPr/>
          <p:nvPr/>
        </p:nvSpPr>
        <p:spPr>
          <a:xfrm>
            <a:off x="1097719" y="4244876"/>
            <a:ext cx="6948488" cy="280987"/>
          </a:xfrm>
          <a:prstGeom prst="rect">
            <a:avLst/>
          </a:prstGeom>
          <a:ln/>
        </p:spPr>
      </p:sp>
      <p:sp>
        <p:nvSpPr>
          <p:cNvPr id="19" name="Text 17"/>
          <p:cNvSpPr/>
          <p:nvPr/>
        </p:nvSpPr>
        <p:spPr>
          <a:xfrm>
            <a:off x="1098314" y="4360590"/>
            <a:ext cx="452437" cy="166688"/>
          </a:xfrm>
          <a:prstGeom prst="rect">
            <a:avLst/>
          </a:prstGeom>
          <a:ln/>
        </p:spPr>
        <p:txBody>
          <a:bodyPr wrap="square" lIns="0" tIns="0" rIns="0" bIns="0" rtlCol="0" anchor="t"/>
          <a:lstStyle/>
          <a:p>
            <a:pPr algn="l" indent="0" marL="0">
              <a:lnSpc>
                <a:spcPts val="1296"/>
              </a:lnSpc>
              <a:buNone/>
            </a:pPr>
            <a:r>
              <a:rPr lang="en-US" sz="800" dirty="0">
                <a:solidFill>
                  <a:srgbClr val="718096"/>
                </a:solidFill>
                <a:latin typeface="DM Sans" pitchFamily="34" charset="0"/>
                <a:ea typeface="DM Sans" pitchFamily="34" charset="-122"/>
                <a:cs typeface="DM Sans" pitchFamily="34" charset="-120"/>
              </a:rPr>
              <a:t>fade.app</a:t>
            </a:r>
            <a:endParaRPr lang="en-US" sz="800" dirty="0"/>
          </a:p>
        </p:txBody>
      </p:sp>
      <p:sp>
        <p:nvSpPr>
          <p:cNvPr id="20" name="Text 18"/>
          <p:cNvSpPr/>
          <p:nvPr/>
        </p:nvSpPr>
        <p:spPr>
          <a:xfrm>
            <a:off x="7903555" y="4360590"/>
            <a:ext cx="142875" cy="166688"/>
          </a:xfrm>
          <a:prstGeom prst="rect">
            <a:avLst/>
          </a:prstGeom>
          <a:ln/>
        </p:spPr>
        <p:txBody>
          <a:bodyPr wrap="square" lIns="0" tIns="0" rIns="0" bIns="0" rtlCol="0" anchor="t"/>
          <a:lstStyle/>
          <a:p>
            <a:pPr algn="l" indent="0" marL="0">
              <a:lnSpc>
                <a:spcPts val="1296"/>
              </a:lnSpc>
              <a:buNone/>
            </a:pPr>
            <a:r>
              <a:rPr lang="en-US" sz="800" b="1" dirty="0">
                <a:solidFill>
                  <a:srgbClr val="2D3748"/>
                </a:solidFill>
                <a:latin typeface="DM Sans" pitchFamily="34" charset="0"/>
                <a:ea typeface="DM Sans" pitchFamily="34" charset="-122"/>
                <a:cs typeface="DM Sans" pitchFamily="34" charset="-120"/>
              </a:rPr>
              <a:t>03</a:t>
            </a:r>
            <a:endParaRPr lang="en-US" sz="800" dirty="0"/>
          </a:p>
        </p:txBody>
      </p:sp>
      <p:pic>
        <p:nvPicPr>
          <p:cNvPr id="2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97719" y="4244876"/>
            <a:ext cx="6948488" cy="28098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5943600" y="-771525"/>
            <a:ext cx="3657600" cy="3657600"/>
          </a:xfrm>
          <a:prstGeom prst="ellipse">
            <a:avLst/>
          </a:prstGeom>
          <a:solidFill>
            <a:srgbClr val="F4E8C1"/>
          </a:solidFill>
          <a:ln/>
        </p:spPr>
      </p:sp>
      <p:sp>
        <p:nvSpPr>
          <p:cNvPr id="4" name="Shape 2"/>
          <p:cNvSpPr/>
          <p:nvPr/>
        </p:nvSpPr>
        <p:spPr>
          <a:xfrm>
            <a:off x="-913470" y="2732745"/>
            <a:ext cx="2924175" cy="2924175"/>
          </a:xfrm>
          <a:prstGeom prst="ellipse">
            <a:avLst/>
          </a:prstGeom>
          <a:solidFill>
            <a:srgbClr val="AED9E0"/>
          </a:solidFill>
          <a:ln/>
        </p:spPr>
      </p:sp>
      <p:sp>
        <p:nvSpPr>
          <p:cNvPr id="5" name="Shape 3"/>
          <p:cNvSpPr/>
          <p:nvPr/>
        </p:nvSpPr>
        <p:spPr>
          <a:xfrm>
            <a:off x="4389090" y="411435"/>
            <a:ext cx="457200" cy="457200"/>
          </a:xfrm>
          <a:prstGeom prst="ellipse">
            <a:avLst/>
          </a:prstGeom>
          <a:solidFill>
            <a:srgbClr val="C8B6FF"/>
          </a:solidFill>
          <a:ln/>
        </p:spPr>
      </p:sp>
      <p:sp>
        <p:nvSpPr>
          <p:cNvPr id="6" name="Shape 4"/>
          <p:cNvSpPr/>
          <p:nvPr/>
        </p:nvSpPr>
        <p:spPr>
          <a:xfrm>
            <a:off x="547613" y="309525"/>
            <a:ext cx="8048625" cy="4524375"/>
          </a:xfrm>
          <a:prstGeom prst="roundRect">
            <a:avLst>
              <a:gd name="adj" fmla="val 817"/>
            </a:avLst>
          </a:prstGeom>
          <a:solidFill>
            <a:srgbClr val="FFFFFF">
              <a:alpha val="55000"/>
            </a:srgbClr>
          </a:solidFill>
          <a:ln/>
        </p:spPr>
      </p:sp>
      <p:sp>
        <p:nvSpPr>
          <p:cNvPr id="7" name="Text 5"/>
          <p:cNvSpPr/>
          <p:nvPr/>
        </p:nvSpPr>
        <p:spPr>
          <a:xfrm>
            <a:off x="913358" y="513308"/>
            <a:ext cx="276225" cy="276225"/>
          </a:xfrm>
          <a:prstGeom prst="roundRect">
            <a:avLst>
              <a:gd name="adj" fmla="val 21917"/>
            </a:avLst>
          </a:prstGeom>
          <a:solidFill>
            <a:srgbClr val="2D3748"/>
          </a:solidFill>
          <a:ln/>
        </p:spPr>
        <p:txBody>
          <a:bodyPr wrap="square" lIns="0" tIns="0" rIns="0" bIns="0" rtlCol="0" anchor="ctr"/>
          <a:lstStyle/>
          <a:p>
            <a:pPr algn="ctr" indent="0" marL="0">
              <a:lnSpc>
                <a:spcPts val="1620"/>
              </a:lnSpc>
              <a:buNone/>
            </a:pPr>
            <a:r>
              <a:rPr lang="en-US" sz="1000" b="1" dirty="0">
                <a:solidFill>
                  <a:srgbClr val="FFFFFF"/>
                </a:solidFill>
                <a:latin typeface="DM Sans" pitchFamily="34" charset="0"/>
                <a:ea typeface="DM Sans" pitchFamily="34" charset="-122"/>
                <a:cs typeface="DM Sans" pitchFamily="34" charset="-120"/>
              </a:rPr>
              <a:t>F</a:t>
            </a:r>
            <a:endParaRPr lang="en-US" sz="1000" dirty="0"/>
          </a:p>
        </p:txBody>
      </p:sp>
      <p:sp>
        <p:nvSpPr>
          <p:cNvPr id="8" name="Text 6"/>
          <p:cNvSpPr/>
          <p:nvPr/>
        </p:nvSpPr>
        <p:spPr>
          <a:xfrm>
            <a:off x="1279959" y="549027"/>
            <a:ext cx="595313" cy="204787"/>
          </a:xfrm>
          <a:prstGeom prst="rect">
            <a:avLst/>
          </a:prstGeom>
          <a:ln/>
        </p:spPr>
        <p:txBody>
          <a:bodyPr wrap="square" lIns="0" tIns="0" rIns="0" bIns="0" rtlCol="0" anchor="t"/>
          <a:lstStyle/>
          <a:p>
            <a:pPr algn="l" indent="0" marL="0">
              <a:lnSpc>
                <a:spcPts val="1620"/>
              </a:lnSpc>
              <a:buNone/>
            </a:pPr>
            <a:r>
              <a:rPr lang="en-US" sz="1000" b="1" dirty="0">
                <a:solidFill>
                  <a:srgbClr val="2D3748"/>
                </a:solidFill>
                <a:latin typeface="DM Sans" pitchFamily="34" charset="0"/>
                <a:ea typeface="DM Sans" pitchFamily="34" charset="-122"/>
                <a:cs typeface="DM Sans" pitchFamily="34" charset="-120"/>
              </a:rPr>
              <a:t>fade.app</a:t>
            </a:r>
            <a:endParaRPr lang="en-US" sz="1000" dirty="0"/>
          </a:p>
        </p:txBody>
      </p:sp>
      <p:sp>
        <p:nvSpPr>
          <p:cNvPr id="9" name="Text 7"/>
          <p:cNvSpPr/>
          <p:nvPr/>
        </p:nvSpPr>
        <p:spPr>
          <a:xfrm>
            <a:off x="7372536" y="541846"/>
            <a:ext cx="857250" cy="219075"/>
          </a:xfrm>
          <a:prstGeom prst="roundRect">
            <a:avLst>
              <a:gd name="adj" fmla="val 52174"/>
            </a:avLst>
          </a:prstGeom>
          <a:solidFill>
            <a:srgbClr val="AED9E0"/>
          </a:solidFill>
          <a:ln/>
        </p:spPr>
        <p:txBody>
          <a:bodyPr wrap="square" lIns="0" tIns="0" rIns="0" bIns="0" rtlCol="0" anchor="ctr"/>
          <a:lstStyle/>
          <a:p>
            <a:pPr algn="l" indent="0" marL="0">
              <a:lnSpc>
                <a:spcPts val="1080"/>
              </a:lnSpc>
              <a:buNone/>
            </a:pPr>
            <a:r>
              <a:rPr lang="en-US" sz="700" b="1" dirty="0">
                <a:solidFill>
                  <a:srgbClr val="2D3748"/>
                </a:solidFill>
                <a:latin typeface="DM Sans" pitchFamily="34" charset="0"/>
                <a:ea typeface="DM Sans" pitchFamily="34" charset="-122"/>
                <a:cs typeface="DM Sans" pitchFamily="34" charset="-120"/>
              </a:rPr>
              <a:t>How It Works</a:t>
            </a:r>
            <a:endParaRPr lang="en-US" sz="700" dirty="0"/>
          </a:p>
        </p:txBody>
      </p:sp>
      <p:sp>
        <p:nvSpPr>
          <p:cNvPr id="10" name="Text 8"/>
          <p:cNvSpPr/>
          <p:nvPr/>
        </p:nvSpPr>
        <p:spPr>
          <a:xfrm>
            <a:off x="914326" y="942975"/>
            <a:ext cx="5486400" cy="723900"/>
          </a:xfrm>
          <a:prstGeom prst="rect">
            <a:avLst/>
          </a:prstGeom>
          <a:ln/>
        </p:spPr>
        <p:txBody>
          <a:bodyPr wrap="square" lIns="0" tIns="0" rIns="0" bIns="0" rtlCol="0" anchor="t"/>
          <a:lstStyle/>
          <a:p>
            <a:pPr algn="l" indent="0" marL="0">
              <a:lnSpc>
                <a:spcPts val="2851"/>
              </a:lnSpc>
              <a:spcAft>
                <a:spcPts val="1620"/>
              </a:spcAft>
              <a:buNone/>
            </a:pPr>
            <a:r>
              <a:rPr lang="en-US" sz="2500" b="1" dirty="0">
                <a:solidFill>
                  <a:srgbClr val="1A202C"/>
                </a:solidFill>
                <a:latin typeface="DM Sans" pitchFamily="34" charset="0"/>
                <a:ea typeface="DM Sans" pitchFamily="34" charset="-122"/>
                <a:cs typeface="DM Sans" pitchFamily="34" charset="-120"/>
              </a:rPr>
              <a:t>Five steps. From phone to screen and back.</a:t>
            </a:r>
            <a:endParaRPr lang="en-US" sz="2500" dirty="0"/>
          </a:p>
        </p:txBody>
      </p:sp>
      <p:sp>
        <p:nvSpPr>
          <p:cNvPr id="11" name="Shape 9"/>
          <p:cNvSpPr/>
          <p:nvPr/>
        </p:nvSpPr>
        <p:spPr>
          <a:xfrm>
            <a:off x="914698" y="1873151"/>
            <a:ext cx="1352550" cy="2262187"/>
          </a:xfrm>
          <a:prstGeom prst="roundRect">
            <a:avLst>
              <a:gd name="adj" fmla="val 6856"/>
            </a:avLst>
          </a:prstGeom>
          <a:solidFill>
            <a:srgbClr val="FFFFFF"/>
          </a:solidFill>
          <a:ln/>
          <a:effectLst>
            <a:outerShdw sx="100000" sy="100000" kx="0" ky="0" algn="bl" rotWithShape="0" blurRad="182880" dist="91440" dir="5400000">
              <a:srgbClr val="000000">
                <a:alpha val="5000"/>
              </a:srgbClr>
            </a:outerShdw>
          </a:effectLst>
        </p:spPr>
      </p:sp>
      <p:sp>
        <p:nvSpPr>
          <p:cNvPr id="12" name="Text 10"/>
          <p:cNvSpPr/>
          <p:nvPr/>
        </p:nvSpPr>
        <p:spPr>
          <a:xfrm>
            <a:off x="1096677" y="2055056"/>
            <a:ext cx="366712" cy="366712"/>
          </a:xfrm>
          <a:prstGeom prst="ellipse">
            <a:avLst/>
          </a:prstGeom>
          <a:solidFill>
            <a:srgbClr val="FFBCA6"/>
          </a:solidFill>
          <a:ln/>
        </p:spPr>
        <p:txBody>
          <a:bodyPr wrap="square" lIns="0" tIns="0" rIns="0" bIns="0" rtlCol="0" anchor="ctr"/>
          <a:lstStyle/>
          <a:p>
            <a:pPr algn="ctr" indent="0" marL="0">
              <a:lnSpc>
                <a:spcPts val="2160"/>
              </a:lnSpc>
              <a:spcAft>
                <a:spcPts val="607"/>
              </a:spcAft>
              <a:buNone/>
            </a:pPr>
            <a:r>
              <a:rPr lang="en-US" sz="1400" b="1" dirty="0">
                <a:solidFill>
                  <a:srgbClr val="1A202C"/>
                </a:solidFill>
                <a:latin typeface="DM Sans" pitchFamily="34" charset="0"/>
                <a:ea typeface="DM Sans" pitchFamily="34" charset="-122"/>
                <a:cs typeface="DM Sans" pitchFamily="34" charset="-120"/>
              </a:rPr>
              <a:t>1</a:t>
            </a:r>
            <a:endParaRPr lang="en-US" sz="1400" dirty="0"/>
          </a:p>
        </p:txBody>
      </p:sp>
      <p:sp>
        <p:nvSpPr>
          <p:cNvPr id="13" name="Text 11"/>
          <p:cNvSpPr/>
          <p:nvPr/>
        </p:nvSpPr>
        <p:spPr>
          <a:xfrm>
            <a:off x="1098054" y="2499159"/>
            <a:ext cx="985838" cy="471488"/>
          </a:xfrm>
          <a:prstGeom prst="rect">
            <a:avLst/>
          </a:prstGeom>
          <a:ln/>
        </p:spPr>
        <p:txBody>
          <a:bodyPr wrap="square" lIns="0" tIns="0" rIns="0" bIns="0" rtlCol="0" anchor="t"/>
          <a:lstStyle/>
          <a:p>
            <a:pPr algn="l" indent="0" marL="0">
              <a:lnSpc>
                <a:spcPts val="1242"/>
              </a:lnSpc>
              <a:spcAft>
                <a:spcPts val="405"/>
              </a:spcAft>
              <a:buNone/>
            </a:pPr>
            <a:r>
              <a:rPr lang="en-US" sz="1000" b="1" dirty="0">
                <a:solidFill>
                  <a:srgbClr val="1A202C"/>
                </a:solidFill>
                <a:latin typeface="DM Sans" pitchFamily="34" charset="0"/>
                <a:ea typeface="DM Sans" pitchFamily="34" charset="-122"/>
                <a:cs typeface="DM Sans" pitchFamily="34" charset="-120"/>
              </a:rPr>
              <a:t>Connect once on your phone.</a:t>
            </a:r>
            <a:endParaRPr lang="en-US" sz="1000" dirty="0"/>
          </a:p>
        </p:txBody>
      </p:sp>
      <p:sp>
        <p:nvSpPr>
          <p:cNvPr id="14" name="Text 12"/>
          <p:cNvSpPr/>
          <p:nvPr/>
        </p:nvSpPr>
        <p:spPr>
          <a:xfrm>
            <a:off x="1098054" y="3022178"/>
            <a:ext cx="985838" cy="442913"/>
          </a:xfrm>
          <a:prstGeom prst="rect">
            <a:avLst/>
          </a:prstGeom>
          <a:ln/>
        </p:spPr>
        <p:txBody>
          <a:bodyPr wrap="square" lIns="0" tIns="0" rIns="0" bIns="0" rtlCol="0" anchor="t"/>
          <a:lstStyle/>
          <a:p>
            <a:pPr algn="l" indent="0" marL="0">
              <a:lnSpc>
                <a:spcPts val="1159"/>
              </a:lnSpc>
              <a:buNone/>
            </a:pPr>
            <a:r>
              <a:rPr lang="en-US" sz="800" dirty="0">
                <a:solidFill>
                  <a:srgbClr val="718096"/>
                </a:solidFill>
                <a:latin typeface="DM Sans" pitchFamily="34" charset="0"/>
                <a:ea typeface="DM Sans" pitchFamily="34" charset="-122"/>
                <a:cs typeface="DM Sans" pitchFamily="34" charset="-120"/>
              </a:rPr>
              <a:t>Gmail, Outlook, Calendar — linked to you, not a device.</a:t>
            </a:r>
            <a:endParaRPr lang="en-US" sz="800" dirty="0"/>
          </a:p>
        </p:txBody>
      </p:sp>
      <p:sp>
        <p:nvSpPr>
          <p:cNvPr id="15" name="Shape 13"/>
          <p:cNvSpPr/>
          <p:nvPr/>
        </p:nvSpPr>
        <p:spPr>
          <a:xfrm>
            <a:off x="2405137" y="1873151"/>
            <a:ext cx="1352550" cy="2262187"/>
          </a:xfrm>
          <a:prstGeom prst="roundRect">
            <a:avLst>
              <a:gd name="adj" fmla="val 6856"/>
            </a:avLst>
          </a:prstGeom>
          <a:solidFill>
            <a:srgbClr val="FFFFFF"/>
          </a:solidFill>
          <a:ln/>
          <a:effectLst>
            <a:outerShdw sx="100000" sy="100000" kx="0" ky="0" algn="bl" rotWithShape="0" blurRad="182880" dist="91440" dir="5400000">
              <a:srgbClr val="000000">
                <a:alpha val="5000"/>
              </a:srgbClr>
            </a:outerShdw>
          </a:effectLst>
        </p:spPr>
      </p:sp>
      <p:sp>
        <p:nvSpPr>
          <p:cNvPr id="16" name="Text 14"/>
          <p:cNvSpPr/>
          <p:nvPr/>
        </p:nvSpPr>
        <p:spPr>
          <a:xfrm>
            <a:off x="2587117" y="2055056"/>
            <a:ext cx="366712" cy="366712"/>
          </a:xfrm>
          <a:prstGeom prst="ellipse">
            <a:avLst/>
          </a:prstGeom>
          <a:solidFill>
            <a:srgbClr val="AED9E0"/>
          </a:solidFill>
          <a:ln/>
        </p:spPr>
        <p:txBody>
          <a:bodyPr wrap="square" lIns="0" tIns="0" rIns="0" bIns="0" rtlCol="0" anchor="ctr"/>
          <a:lstStyle/>
          <a:p>
            <a:pPr algn="ctr" indent="0" marL="0">
              <a:lnSpc>
                <a:spcPts val="2160"/>
              </a:lnSpc>
              <a:spcAft>
                <a:spcPts val="607"/>
              </a:spcAft>
              <a:buNone/>
            </a:pPr>
            <a:r>
              <a:rPr lang="en-US" sz="1400" b="1" dirty="0">
                <a:solidFill>
                  <a:srgbClr val="1A202C"/>
                </a:solidFill>
                <a:latin typeface="DM Sans" pitchFamily="34" charset="0"/>
                <a:ea typeface="DM Sans" pitchFamily="34" charset="-122"/>
                <a:cs typeface="DM Sans" pitchFamily="34" charset="-120"/>
              </a:rPr>
              <a:t>2</a:t>
            </a:r>
            <a:endParaRPr lang="en-US" sz="1400" dirty="0"/>
          </a:p>
        </p:txBody>
      </p:sp>
      <p:sp>
        <p:nvSpPr>
          <p:cNvPr id="17" name="Text 15"/>
          <p:cNvSpPr/>
          <p:nvPr/>
        </p:nvSpPr>
        <p:spPr>
          <a:xfrm>
            <a:off x="2588493" y="2498899"/>
            <a:ext cx="985838" cy="314325"/>
          </a:xfrm>
          <a:prstGeom prst="rect">
            <a:avLst/>
          </a:prstGeom>
          <a:ln/>
        </p:spPr>
        <p:txBody>
          <a:bodyPr wrap="square" lIns="0" tIns="0" rIns="0" bIns="0" rtlCol="0" anchor="t"/>
          <a:lstStyle/>
          <a:p>
            <a:pPr algn="l" indent="0" marL="0">
              <a:lnSpc>
                <a:spcPts val="1242"/>
              </a:lnSpc>
              <a:spcAft>
                <a:spcPts val="405"/>
              </a:spcAft>
              <a:buNone/>
            </a:pPr>
            <a:r>
              <a:rPr lang="en-US" sz="1000" b="1" dirty="0">
                <a:solidFill>
                  <a:srgbClr val="1A202C"/>
                </a:solidFill>
                <a:latin typeface="DM Sans" pitchFamily="34" charset="0"/>
                <a:ea typeface="DM Sans" pitchFamily="34" charset="-122"/>
                <a:cs typeface="DM Sans" pitchFamily="34" charset="-120"/>
              </a:rPr>
              <a:t>Walk up to any PC.</a:t>
            </a:r>
            <a:endParaRPr lang="en-US" sz="1000" dirty="0"/>
          </a:p>
        </p:txBody>
      </p:sp>
      <p:sp>
        <p:nvSpPr>
          <p:cNvPr id="18" name="Text 16"/>
          <p:cNvSpPr/>
          <p:nvPr/>
        </p:nvSpPr>
        <p:spPr>
          <a:xfrm>
            <a:off x="2588493" y="2864495"/>
            <a:ext cx="985838" cy="442913"/>
          </a:xfrm>
          <a:prstGeom prst="rect">
            <a:avLst/>
          </a:prstGeom>
          <a:ln/>
        </p:spPr>
        <p:txBody>
          <a:bodyPr wrap="square" lIns="0" tIns="0" rIns="0" bIns="0" rtlCol="0" anchor="t"/>
          <a:lstStyle/>
          <a:p>
            <a:pPr algn="l" indent="0" marL="0">
              <a:lnSpc>
                <a:spcPts val="1159"/>
              </a:lnSpc>
              <a:buNone/>
            </a:pPr>
            <a:r>
              <a:rPr lang="en-US" sz="800" dirty="0">
                <a:solidFill>
                  <a:srgbClr val="718096"/>
                </a:solidFill>
                <a:latin typeface="DM Sans" pitchFamily="34" charset="0"/>
                <a:ea typeface="DM Sans" pitchFamily="34" charset="-122"/>
                <a:cs typeface="DM Sans" pitchFamily="34" charset="-120"/>
              </a:rPr>
              <a:t>Open fade.app and scan the QR shown on screen.</a:t>
            </a:r>
            <a:endParaRPr lang="en-US" sz="800" dirty="0"/>
          </a:p>
        </p:txBody>
      </p:sp>
      <p:sp>
        <p:nvSpPr>
          <p:cNvPr id="19" name="Shape 17"/>
          <p:cNvSpPr/>
          <p:nvPr/>
        </p:nvSpPr>
        <p:spPr>
          <a:xfrm>
            <a:off x="3895613" y="1873151"/>
            <a:ext cx="1352550" cy="2262187"/>
          </a:xfrm>
          <a:prstGeom prst="roundRect">
            <a:avLst>
              <a:gd name="adj" fmla="val 6856"/>
            </a:avLst>
          </a:prstGeom>
          <a:solidFill>
            <a:srgbClr val="FFFFFF"/>
          </a:solidFill>
          <a:ln/>
          <a:effectLst>
            <a:outerShdw sx="100000" sy="100000" kx="0" ky="0" algn="bl" rotWithShape="0" blurRad="182880" dist="91440" dir="5400000">
              <a:srgbClr val="000000">
                <a:alpha val="5000"/>
              </a:srgbClr>
            </a:outerShdw>
          </a:effectLst>
        </p:spPr>
      </p:sp>
      <p:sp>
        <p:nvSpPr>
          <p:cNvPr id="20" name="Text 18"/>
          <p:cNvSpPr/>
          <p:nvPr/>
        </p:nvSpPr>
        <p:spPr>
          <a:xfrm>
            <a:off x="4077556" y="2055056"/>
            <a:ext cx="366712" cy="366712"/>
          </a:xfrm>
          <a:prstGeom prst="ellipse">
            <a:avLst/>
          </a:prstGeom>
          <a:solidFill>
            <a:srgbClr val="C8B6FF"/>
          </a:solidFill>
          <a:ln/>
        </p:spPr>
        <p:txBody>
          <a:bodyPr wrap="square" lIns="0" tIns="0" rIns="0" bIns="0" rtlCol="0" anchor="ctr"/>
          <a:lstStyle/>
          <a:p>
            <a:pPr algn="ctr" indent="0" marL="0">
              <a:lnSpc>
                <a:spcPts val="2160"/>
              </a:lnSpc>
              <a:spcAft>
                <a:spcPts val="607"/>
              </a:spcAft>
              <a:buNone/>
            </a:pPr>
            <a:r>
              <a:rPr lang="en-US" sz="1400" b="1" dirty="0">
                <a:solidFill>
                  <a:srgbClr val="1A202C"/>
                </a:solidFill>
                <a:latin typeface="DM Sans" pitchFamily="34" charset="0"/>
                <a:ea typeface="DM Sans" pitchFamily="34" charset="-122"/>
                <a:cs typeface="DM Sans" pitchFamily="34" charset="-120"/>
              </a:rPr>
              <a:t>3</a:t>
            </a:r>
            <a:endParaRPr lang="en-US" sz="1400" dirty="0"/>
          </a:p>
        </p:txBody>
      </p:sp>
      <p:sp>
        <p:nvSpPr>
          <p:cNvPr id="21" name="Text 19"/>
          <p:cNvSpPr/>
          <p:nvPr/>
        </p:nvSpPr>
        <p:spPr>
          <a:xfrm>
            <a:off x="4078970" y="2498899"/>
            <a:ext cx="985838" cy="314325"/>
          </a:xfrm>
          <a:prstGeom prst="rect">
            <a:avLst/>
          </a:prstGeom>
          <a:ln/>
        </p:spPr>
        <p:txBody>
          <a:bodyPr wrap="square" lIns="0" tIns="0" rIns="0" bIns="0" rtlCol="0" anchor="t"/>
          <a:lstStyle/>
          <a:p>
            <a:pPr algn="l" indent="0" marL="0">
              <a:lnSpc>
                <a:spcPts val="1242"/>
              </a:lnSpc>
              <a:spcAft>
                <a:spcPts val="405"/>
              </a:spcAft>
              <a:buNone/>
            </a:pPr>
            <a:r>
              <a:rPr lang="en-US" sz="1000" b="1" dirty="0">
                <a:solidFill>
                  <a:srgbClr val="1A202C"/>
                </a:solidFill>
                <a:latin typeface="DM Sans" pitchFamily="34" charset="0"/>
                <a:ea typeface="DM Sans" pitchFamily="34" charset="-122"/>
                <a:cs typeface="DM Sans" pitchFamily="34" charset="-120"/>
              </a:rPr>
              <a:t>Your accounts appear.</a:t>
            </a:r>
            <a:endParaRPr lang="en-US" sz="1000" dirty="0"/>
          </a:p>
        </p:txBody>
      </p:sp>
      <p:sp>
        <p:nvSpPr>
          <p:cNvPr id="22" name="Text 20"/>
          <p:cNvSpPr/>
          <p:nvPr/>
        </p:nvSpPr>
        <p:spPr>
          <a:xfrm>
            <a:off x="4078970" y="2864272"/>
            <a:ext cx="985838" cy="590550"/>
          </a:xfrm>
          <a:prstGeom prst="rect">
            <a:avLst/>
          </a:prstGeom>
          <a:ln/>
        </p:spPr>
        <p:txBody>
          <a:bodyPr wrap="square" lIns="0" tIns="0" rIns="0" bIns="0" rtlCol="0" anchor="t"/>
          <a:lstStyle/>
          <a:p>
            <a:pPr algn="l" indent="0" marL="0">
              <a:lnSpc>
                <a:spcPts val="1159"/>
              </a:lnSpc>
              <a:buNone/>
            </a:pPr>
            <a:r>
              <a:rPr lang="en-US" sz="800" dirty="0">
                <a:solidFill>
                  <a:srgbClr val="718096"/>
                </a:solidFill>
                <a:latin typeface="DM Sans" pitchFamily="34" charset="0"/>
                <a:ea typeface="DM Sans" pitchFamily="34" charset="-122"/>
                <a:cs typeface="DM Sans" pitchFamily="34" charset="-120"/>
              </a:rPr>
              <a:t>Inbox, calendar, drive — projected on that screen, just for the session.</a:t>
            </a:r>
            <a:endParaRPr lang="en-US" sz="800" dirty="0"/>
          </a:p>
        </p:txBody>
      </p:sp>
      <p:sp>
        <p:nvSpPr>
          <p:cNvPr id="23" name="Shape 21"/>
          <p:cNvSpPr/>
          <p:nvPr/>
        </p:nvSpPr>
        <p:spPr>
          <a:xfrm>
            <a:off x="5386090" y="1873151"/>
            <a:ext cx="1352550" cy="2262187"/>
          </a:xfrm>
          <a:prstGeom prst="roundRect">
            <a:avLst>
              <a:gd name="adj" fmla="val 6856"/>
            </a:avLst>
          </a:prstGeom>
          <a:solidFill>
            <a:srgbClr val="FFFFFF"/>
          </a:solidFill>
          <a:ln/>
          <a:effectLst>
            <a:outerShdw sx="100000" sy="100000" kx="0" ky="0" algn="bl" rotWithShape="0" blurRad="182880" dist="91440" dir="5400000">
              <a:srgbClr val="000000">
                <a:alpha val="5000"/>
              </a:srgbClr>
            </a:outerShdw>
          </a:effectLst>
        </p:spPr>
      </p:sp>
      <p:sp>
        <p:nvSpPr>
          <p:cNvPr id="24" name="Text 22"/>
          <p:cNvSpPr/>
          <p:nvPr/>
        </p:nvSpPr>
        <p:spPr>
          <a:xfrm>
            <a:off x="5568069" y="2055056"/>
            <a:ext cx="366712" cy="366712"/>
          </a:xfrm>
          <a:prstGeom prst="ellipse">
            <a:avLst/>
          </a:prstGeom>
          <a:solidFill>
            <a:srgbClr val="F4E8C1"/>
          </a:solidFill>
          <a:ln/>
        </p:spPr>
        <p:txBody>
          <a:bodyPr wrap="square" lIns="0" tIns="0" rIns="0" bIns="0" rtlCol="0" anchor="ctr"/>
          <a:lstStyle/>
          <a:p>
            <a:pPr algn="ctr" indent="0" marL="0">
              <a:lnSpc>
                <a:spcPts val="2160"/>
              </a:lnSpc>
              <a:spcAft>
                <a:spcPts val="607"/>
              </a:spcAft>
              <a:buNone/>
            </a:pPr>
            <a:r>
              <a:rPr lang="en-US" sz="1400" b="1" dirty="0">
                <a:solidFill>
                  <a:srgbClr val="1A202C"/>
                </a:solidFill>
                <a:latin typeface="DM Sans" pitchFamily="34" charset="0"/>
                <a:ea typeface="DM Sans" pitchFamily="34" charset="-122"/>
                <a:cs typeface="DM Sans" pitchFamily="34" charset="-120"/>
              </a:rPr>
              <a:t>4</a:t>
            </a:r>
            <a:endParaRPr lang="en-US" sz="1400" dirty="0"/>
          </a:p>
        </p:txBody>
      </p:sp>
      <p:sp>
        <p:nvSpPr>
          <p:cNvPr id="25" name="Text 23"/>
          <p:cNvSpPr/>
          <p:nvPr/>
        </p:nvSpPr>
        <p:spPr>
          <a:xfrm>
            <a:off x="5569446" y="2498899"/>
            <a:ext cx="985838" cy="314325"/>
          </a:xfrm>
          <a:prstGeom prst="rect">
            <a:avLst/>
          </a:prstGeom>
          <a:ln/>
        </p:spPr>
        <p:txBody>
          <a:bodyPr wrap="square" lIns="0" tIns="0" rIns="0" bIns="0" rtlCol="0" anchor="t"/>
          <a:lstStyle/>
          <a:p>
            <a:pPr algn="l" indent="0" marL="0">
              <a:lnSpc>
                <a:spcPts val="1242"/>
              </a:lnSpc>
              <a:spcAft>
                <a:spcPts val="405"/>
              </a:spcAft>
              <a:buNone/>
            </a:pPr>
            <a:r>
              <a:rPr lang="en-US" sz="1000" b="1" dirty="0">
                <a:solidFill>
                  <a:srgbClr val="1A202C"/>
                </a:solidFill>
                <a:latin typeface="DM Sans" pitchFamily="34" charset="0"/>
                <a:ea typeface="DM Sans" pitchFamily="34" charset="-122"/>
                <a:cs typeface="DM Sans" pitchFamily="34" charset="-120"/>
              </a:rPr>
              <a:t>Hit "End" when you're done.</a:t>
            </a:r>
            <a:endParaRPr lang="en-US" sz="1000" dirty="0"/>
          </a:p>
        </p:txBody>
      </p:sp>
      <p:sp>
        <p:nvSpPr>
          <p:cNvPr id="26" name="Text 24"/>
          <p:cNvSpPr/>
          <p:nvPr/>
        </p:nvSpPr>
        <p:spPr>
          <a:xfrm>
            <a:off x="5569446" y="2864495"/>
            <a:ext cx="985838" cy="442913"/>
          </a:xfrm>
          <a:prstGeom prst="rect">
            <a:avLst/>
          </a:prstGeom>
          <a:ln/>
        </p:spPr>
        <p:txBody>
          <a:bodyPr wrap="square" lIns="0" tIns="0" rIns="0" bIns="0" rtlCol="0" anchor="t"/>
          <a:lstStyle/>
          <a:p>
            <a:pPr algn="l" indent="0" marL="0">
              <a:lnSpc>
                <a:spcPts val="1159"/>
              </a:lnSpc>
              <a:buNone/>
            </a:pPr>
            <a:r>
              <a:rPr lang="en-US" sz="800" dirty="0">
                <a:solidFill>
                  <a:srgbClr val="718096"/>
                </a:solidFill>
                <a:latin typeface="DM Sans" pitchFamily="34" charset="0"/>
                <a:ea typeface="DM Sans" pitchFamily="34" charset="-122"/>
                <a:cs typeface="DM Sans" pitchFamily="34" charset="-120"/>
              </a:rPr>
              <a:t>Cookies, tokens and cache wiped from the PC instantly.</a:t>
            </a:r>
            <a:endParaRPr lang="en-US" sz="800" dirty="0"/>
          </a:p>
        </p:txBody>
      </p:sp>
      <p:sp>
        <p:nvSpPr>
          <p:cNvPr id="27" name="Shape 25"/>
          <p:cNvSpPr/>
          <p:nvPr/>
        </p:nvSpPr>
        <p:spPr>
          <a:xfrm>
            <a:off x="6876566" y="1873151"/>
            <a:ext cx="1352550" cy="2262187"/>
          </a:xfrm>
          <a:prstGeom prst="roundRect">
            <a:avLst>
              <a:gd name="adj" fmla="val 6856"/>
            </a:avLst>
          </a:prstGeom>
          <a:solidFill>
            <a:srgbClr val="2D3748"/>
          </a:solidFill>
          <a:ln/>
          <a:effectLst>
            <a:outerShdw sx="100000" sy="100000" kx="0" ky="0" algn="bl" rotWithShape="0" blurRad="182880" dist="91440" dir="5400000">
              <a:srgbClr val="000000">
                <a:alpha val="10000"/>
              </a:srgbClr>
            </a:outerShdw>
          </a:effectLst>
        </p:spPr>
      </p:sp>
      <p:sp>
        <p:nvSpPr>
          <p:cNvPr id="28" name="Text 26"/>
          <p:cNvSpPr/>
          <p:nvPr/>
        </p:nvSpPr>
        <p:spPr>
          <a:xfrm>
            <a:off x="7058509" y="2055056"/>
            <a:ext cx="366712" cy="366712"/>
          </a:xfrm>
          <a:prstGeom prst="ellipse">
            <a:avLst/>
          </a:prstGeom>
          <a:solidFill>
            <a:srgbClr val="FFBCA6"/>
          </a:solidFill>
          <a:ln/>
        </p:spPr>
        <p:txBody>
          <a:bodyPr wrap="square" lIns="0" tIns="0" rIns="0" bIns="0" rtlCol="0" anchor="ctr"/>
          <a:lstStyle/>
          <a:p>
            <a:pPr algn="ctr" indent="0" marL="0">
              <a:lnSpc>
                <a:spcPts val="2160"/>
              </a:lnSpc>
              <a:spcAft>
                <a:spcPts val="607"/>
              </a:spcAft>
              <a:buNone/>
            </a:pPr>
            <a:r>
              <a:rPr lang="en-US" sz="1400" b="1" dirty="0">
                <a:solidFill>
                  <a:srgbClr val="1A202C"/>
                </a:solidFill>
                <a:latin typeface="DM Sans" pitchFamily="34" charset="0"/>
                <a:ea typeface="DM Sans" pitchFamily="34" charset="-122"/>
                <a:cs typeface="DM Sans" pitchFamily="34" charset="-120"/>
              </a:rPr>
              <a:t>5</a:t>
            </a:r>
            <a:endParaRPr lang="en-US" sz="1400" dirty="0"/>
          </a:p>
        </p:txBody>
      </p:sp>
      <p:sp>
        <p:nvSpPr>
          <p:cNvPr id="29" name="Text 27"/>
          <p:cNvSpPr/>
          <p:nvPr/>
        </p:nvSpPr>
        <p:spPr>
          <a:xfrm>
            <a:off x="7059923" y="2499159"/>
            <a:ext cx="985838" cy="471488"/>
          </a:xfrm>
          <a:prstGeom prst="rect">
            <a:avLst/>
          </a:prstGeom>
          <a:ln/>
        </p:spPr>
        <p:txBody>
          <a:bodyPr wrap="square" lIns="0" tIns="0" rIns="0" bIns="0" rtlCol="0" anchor="t"/>
          <a:lstStyle/>
          <a:p>
            <a:pPr algn="l" indent="0" marL="0">
              <a:lnSpc>
                <a:spcPts val="1242"/>
              </a:lnSpc>
              <a:spcAft>
                <a:spcPts val="405"/>
              </a:spcAft>
              <a:buNone/>
            </a:pPr>
            <a:r>
              <a:rPr lang="en-US" sz="1000" b="1" dirty="0">
                <a:solidFill>
                  <a:srgbClr val="FFFFFF"/>
                </a:solidFill>
                <a:latin typeface="DM Sans" pitchFamily="34" charset="0"/>
                <a:ea typeface="DM Sans" pitchFamily="34" charset="-122"/>
                <a:cs typeface="DM Sans" pitchFamily="34" charset="-120"/>
              </a:rPr>
              <a:t>Your phone keeps everything.</a:t>
            </a:r>
            <a:endParaRPr lang="en-US" sz="1000" dirty="0"/>
          </a:p>
        </p:txBody>
      </p:sp>
      <p:sp>
        <p:nvSpPr>
          <p:cNvPr id="30" name="Text 28"/>
          <p:cNvSpPr/>
          <p:nvPr/>
        </p:nvSpPr>
        <p:spPr>
          <a:xfrm>
            <a:off x="7059923" y="3022178"/>
            <a:ext cx="985838" cy="442913"/>
          </a:xfrm>
          <a:prstGeom prst="rect">
            <a:avLst/>
          </a:prstGeom>
          <a:ln/>
        </p:spPr>
        <p:txBody>
          <a:bodyPr wrap="square" lIns="0" tIns="0" rIns="0" bIns="0" rtlCol="0" anchor="t"/>
          <a:lstStyle/>
          <a:p>
            <a:pPr algn="l" indent="0" marL="0">
              <a:lnSpc>
                <a:spcPts val="1159"/>
              </a:lnSpc>
              <a:buNone/>
            </a:pPr>
            <a:r>
              <a:rPr lang="en-US" sz="800" dirty="0">
                <a:solidFill>
                  <a:srgbClr val="AED9E0"/>
                </a:solidFill>
                <a:latin typeface="DM Sans" pitchFamily="34" charset="0"/>
                <a:ea typeface="DM Sans" pitchFamily="34" charset="-122"/>
                <a:cs typeface="DM Sans" pitchFamily="34" charset="-120"/>
              </a:rPr>
              <a:t>Next screen, same scan. No re-login, ever.</a:t>
            </a:r>
            <a:endParaRPr lang="en-US" sz="800" dirty="0"/>
          </a:p>
        </p:txBody>
      </p:sp>
      <p:sp>
        <p:nvSpPr>
          <p:cNvPr id="31" name="Shape 29"/>
          <p:cNvSpPr/>
          <p:nvPr/>
        </p:nvSpPr>
        <p:spPr>
          <a:xfrm>
            <a:off x="914326" y="4347790"/>
            <a:ext cx="7315200" cy="280987"/>
          </a:xfrm>
          <a:prstGeom prst="rect">
            <a:avLst/>
          </a:prstGeom>
          <a:ln/>
        </p:spPr>
      </p:sp>
      <p:sp>
        <p:nvSpPr>
          <p:cNvPr id="32" name="Text 30"/>
          <p:cNvSpPr/>
          <p:nvPr/>
        </p:nvSpPr>
        <p:spPr>
          <a:xfrm>
            <a:off x="915405" y="4463504"/>
            <a:ext cx="452437" cy="166688"/>
          </a:xfrm>
          <a:prstGeom prst="rect">
            <a:avLst/>
          </a:prstGeom>
          <a:ln/>
        </p:spPr>
        <p:txBody>
          <a:bodyPr wrap="square" lIns="0" tIns="0" rIns="0" bIns="0" rtlCol="0" anchor="t"/>
          <a:lstStyle/>
          <a:p>
            <a:pPr algn="l" indent="0" marL="0">
              <a:lnSpc>
                <a:spcPts val="1296"/>
              </a:lnSpc>
              <a:buNone/>
            </a:pPr>
            <a:r>
              <a:rPr lang="en-US" sz="800" dirty="0">
                <a:solidFill>
                  <a:srgbClr val="718096"/>
                </a:solidFill>
                <a:latin typeface="DM Sans" pitchFamily="34" charset="0"/>
                <a:ea typeface="DM Sans" pitchFamily="34" charset="-122"/>
                <a:cs typeface="DM Sans" pitchFamily="34" charset="-120"/>
              </a:rPr>
              <a:t>fade.app</a:t>
            </a:r>
            <a:endParaRPr lang="en-US" sz="800" dirty="0"/>
          </a:p>
        </p:txBody>
      </p:sp>
      <p:sp>
        <p:nvSpPr>
          <p:cNvPr id="33" name="Text 31"/>
          <p:cNvSpPr/>
          <p:nvPr/>
        </p:nvSpPr>
        <p:spPr>
          <a:xfrm>
            <a:off x="8081442" y="4463504"/>
            <a:ext cx="147637" cy="166688"/>
          </a:xfrm>
          <a:prstGeom prst="rect">
            <a:avLst/>
          </a:prstGeom>
          <a:ln/>
        </p:spPr>
        <p:txBody>
          <a:bodyPr wrap="square" lIns="0" tIns="0" rIns="0" bIns="0" rtlCol="0" anchor="t"/>
          <a:lstStyle/>
          <a:p>
            <a:pPr algn="l" indent="0" marL="0">
              <a:lnSpc>
                <a:spcPts val="1296"/>
              </a:lnSpc>
              <a:buNone/>
            </a:pPr>
            <a:r>
              <a:rPr lang="en-US" sz="800" b="1" dirty="0">
                <a:solidFill>
                  <a:srgbClr val="2D3748"/>
                </a:solidFill>
                <a:latin typeface="DM Sans" pitchFamily="34" charset="0"/>
                <a:ea typeface="DM Sans" pitchFamily="34" charset="-122"/>
                <a:cs typeface="DM Sans" pitchFamily="34" charset="-120"/>
              </a:rPr>
              <a:t>04</a:t>
            </a:r>
            <a:endParaRPr lang="en-US" sz="800" dirty="0"/>
          </a:p>
        </p:txBody>
      </p:sp>
      <p:pic>
        <p:nvPicPr>
          <p:cNvPr id="3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326" y="4347790"/>
            <a:ext cx="7315200" cy="2809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497068" y="972592"/>
            <a:ext cx="733425" cy="733425"/>
          </a:xfrm>
          <a:prstGeom prst="ellipse">
            <a:avLst/>
          </a:prstGeom>
          <a:solidFill>
            <a:srgbClr val="FFBCA6"/>
          </a:solidFill>
          <a:ln/>
        </p:spPr>
      </p:sp>
      <p:sp>
        <p:nvSpPr>
          <p:cNvPr id="3" name="Shape 1"/>
          <p:cNvSpPr/>
          <p:nvPr/>
        </p:nvSpPr>
        <p:spPr>
          <a:xfrm>
            <a:off x="0" y="0"/>
            <a:ext cx="9144000" cy="5143500"/>
          </a:xfrm>
          <a:prstGeom prst="rect">
            <a:avLst/>
          </a:prstGeom>
          <a:solidFill>
            <a:srgbClr val="FFFFFF"/>
          </a:solidFill>
          <a:ln/>
        </p:spPr>
      </p:sp>
      <p:sp>
        <p:nvSpPr>
          <p:cNvPr id="4" name="Shape 2"/>
          <p:cNvSpPr/>
          <p:nvPr/>
        </p:nvSpPr>
        <p:spPr>
          <a:xfrm>
            <a:off x="5486400" y="-771525"/>
            <a:ext cx="4114800" cy="4114800"/>
          </a:xfrm>
          <a:prstGeom prst="ellipse">
            <a:avLst/>
          </a:prstGeom>
          <a:solidFill>
            <a:srgbClr val="F4E8C1"/>
          </a:solidFill>
          <a:ln/>
        </p:spPr>
      </p:sp>
      <p:sp>
        <p:nvSpPr>
          <p:cNvPr id="5" name="Shape 3"/>
          <p:cNvSpPr/>
          <p:nvPr/>
        </p:nvSpPr>
        <p:spPr>
          <a:xfrm>
            <a:off x="-914400" y="2457450"/>
            <a:ext cx="3200400" cy="3200400"/>
          </a:xfrm>
          <a:prstGeom prst="ellipse">
            <a:avLst/>
          </a:prstGeom>
          <a:solidFill>
            <a:srgbClr val="AED9E0"/>
          </a:solidFill>
          <a:ln/>
        </p:spPr>
      </p:sp>
      <p:sp>
        <p:nvSpPr>
          <p:cNvPr id="6" name="Shape 4"/>
          <p:cNvSpPr/>
          <p:nvPr/>
        </p:nvSpPr>
        <p:spPr>
          <a:xfrm>
            <a:off x="547613" y="309525"/>
            <a:ext cx="8048625" cy="4524375"/>
          </a:xfrm>
          <a:prstGeom prst="roundRect">
            <a:avLst>
              <a:gd name="adj" fmla="val 817"/>
            </a:avLst>
          </a:prstGeom>
          <a:solidFill>
            <a:srgbClr val="FFFFFF">
              <a:alpha val="55000"/>
            </a:srgbClr>
          </a:solidFill>
          <a:ln/>
        </p:spPr>
      </p:sp>
      <p:sp>
        <p:nvSpPr>
          <p:cNvPr id="7" name="Text 5"/>
          <p:cNvSpPr/>
          <p:nvPr/>
        </p:nvSpPr>
        <p:spPr>
          <a:xfrm>
            <a:off x="913358" y="513308"/>
            <a:ext cx="276225" cy="276225"/>
          </a:xfrm>
          <a:prstGeom prst="roundRect">
            <a:avLst>
              <a:gd name="adj" fmla="val 21917"/>
            </a:avLst>
          </a:prstGeom>
          <a:solidFill>
            <a:srgbClr val="2D3748"/>
          </a:solidFill>
          <a:ln/>
        </p:spPr>
        <p:txBody>
          <a:bodyPr wrap="square" lIns="0" tIns="0" rIns="0" bIns="0" rtlCol="0" anchor="ctr"/>
          <a:lstStyle/>
          <a:p>
            <a:pPr algn="ctr" indent="0" marL="0">
              <a:lnSpc>
                <a:spcPts val="1620"/>
              </a:lnSpc>
              <a:buNone/>
            </a:pPr>
            <a:r>
              <a:rPr lang="en-US" sz="1000" b="1" dirty="0">
                <a:solidFill>
                  <a:srgbClr val="FFFFFF"/>
                </a:solidFill>
                <a:latin typeface="DM Sans" pitchFamily="34" charset="0"/>
                <a:ea typeface="DM Sans" pitchFamily="34" charset="-122"/>
                <a:cs typeface="DM Sans" pitchFamily="34" charset="-120"/>
              </a:rPr>
              <a:t>F</a:t>
            </a:r>
            <a:endParaRPr lang="en-US" sz="1000" dirty="0"/>
          </a:p>
        </p:txBody>
      </p:sp>
      <p:sp>
        <p:nvSpPr>
          <p:cNvPr id="8" name="Text 6"/>
          <p:cNvSpPr/>
          <p:nvPr/>
        </p:nvSpPr>
        <p:spPr>
          <a:xfrm>
            <a:off x="1279959" y="549027"/>
            <a:ext cx="595313" cy="204787"/>
          </a:xfrm>
          <a:prstGeom prst="rect">
            <a:avLst/>
          </a:prstGeom>
          <a:ln/>
        </p:spPr>
        <p:txBody>
          <a:bodyPr wrap="square" lIns="0" tIns="0" rIns="0" bIns="0" rtlCol="0" anchor="t"/>
          <a:lstStyle/>
          <a:p>
            <a:pPr algn="l" indent="0" marL="0">
              <a:lnSpc>
                <a:spcPts val="1620"/>
              </a:lnSpc>
              <a:buNone/>
            </a:pPr>
            <a:r>
              <a:rPr lang="en-US" sz="1000" b="1" dirty="0">
                <a:solidFill>
                  <a:srgbClr val="2D3748"/>
                </a:solidFill>
                <a:latin typeface="DM Sans" pitchFamily="34" charset="0"/>
                <a:ea typeface="DM Sans" pitchFamily="34" charset="-122"/>
                <a:cs typeface="DM Sans" pitchFamily="34" charset="-120"/>
              </a:rPr>
              <a:t>fade.app</a:t>
            </a:r>
            <a:endParaRPr lang="en-US" sz="1000" dirty="0"/>
          </a:p>
        </p:txBody>
      </p:sp>
      <p:sp>
        <p:nvSpPr>
          <p:cNvPr id="9" name="Text 7"/>
          <p:cNvSpPr/>
          <p:nvPr/>
        </p:nvSpPr>
        <p:spPr>
          <a:xfrm>
            <a:off x="7600243" y="541846"/>
            <a:ext cx="628650" cy="219075"/>
          </a:xfrm>
          <a:prstGeom prst="roundRect">
            <a:avLst>
              <a:gd name="adj" fmla="val 52174"/>
            </a:avLst>
          </a:prstGeom>
          <a:solidFill>
            <a:srgbClr val="FFBCA6"/>
          </a:solidFill>
          <a:ln/>
        </p:spPr>
        <p:txBody>
          <a:bodyPr wrap="square" lIns="0" tIns="0" rIns="0" bIns="0" rtlCol="0" anchor="ctr"/>
          <a:lstStyle/>
          <a:p>
            <a:pPr algn="l" indent="0" marL="0">
              <a:lnSpc>
                <a:spcPts val="1080"/>
              </a:lnSpc>
              <a:buNone/>
            </a:pPr>
            <a:r>
              <a:rPr lang="en-US" sz="700" b="1" dirty="0">
                <a:solidFill>
                  <a:srgbClr val="2D3748"/>
                </a:solidFill>
                <a:latin typeface="DM Sans" pitchFamily="34" charset="0"/>
                <a:ea typeface="DM Sans" pitchFamily="34" charset="-122"/>
                <a:cs typeface="DM Sans" pitchFamily="34" charset="-120"/>
              </a:rPr>
              <a:t>Identity</a:t>
            </a:r>
            <a:endParaRPr lang="en-US" sz="700" dirty="0"/>
          </a:p>
        </p:txBody>
      </p:sp>
      <p:sp>
        <p:nvSpPr>
          <p:cNvPr id="10" name="Text 8"/>
          <p:cNvSpPr/>
          <p:nvPr/>
        </p:nvSpPr>
        <p:spPr>
          <a:xfrm>
            <a:off x="915405" y="1173361"/>
            <a:ext cx="3738562" cy="962025"/>
          </a:xfrm>
          <a:prstGeom prst="rect">
            <a:avLst/>
          </a:prstGeom>
          <a:ln/>
        </p:spPr>
        <p:txBody>
          <a:bodyPr wrap="square" lIns="0" tIns="0" rIns="0" bIns="0" rtlCol="0" anchor="t"/>
          <a:lstStyle/>
          <a:p>
            <a:pPr algn="l" indent="0" marL="0">
              <a:lnSpc>
                <a:spcPts val="3780"/>
              </a:lnSpc>
              <a:spcAft>
                <a:spcPts val="1215"/>
              </a:spcAft>
              <a:buNone/>
            </a:pPr>
            <a:r>
              <a:rPr lang="en-US" sz="3600" b="1" dirty="0">
                <a:solidFill>
                  <a:srgbClr val="1A202C"/>
                </a:solidFill>
                <a:latin typeface="DM Sans" pitchFamily="34" charset="0"/>
                <a:ea typeface="DM Sans" pitchFamily="34" charset="-122"/>
                <a:cs typeface="DM Sans" pitchFamily="34" charset="-120"/>
              </a:rPr>
              <a:t>Your phone is the key.</a:t>
            </a:r>
            <a:endParaRPr lang="en-US" sz="3600" dirty="0"/>
          </a:p>
        </p:txBody>
      </p:sp>
      <p:sp>
        <p:nvSpPr>
          <p:cNvPr id="11" name="Text 9"/>
          <p:cNvSpPr/>
          <p:nvPr/>
        </p:nvSpPr>
        <p:spPr>
          <a:xfrm>
            <a:off x="915405" y="2288344"/>
            <a:ext cx="3738562" cy="700088"/>
          </a:xfrm>
          <a:prstGeom prst="rect">
            <a:avLst/>
          </a:prstGeom>
          <a:ln/>
        </p:spPr>
        <p:txBody>
          <a:bodyPr wrap="square" lIns="0" tIns="0" rIns="0" bIns="0" rtlCol="0" anchor="t"/>
          <a:lstStyle/>
          <a:p>
            <a:pPr algn="l" indent="0" marL="0">
              <a:lnSpc>
                <a:spcPts val="1836"/>
              </a:lnSpc>
              <a:spcAft>
                <a:spcPts val="1215"/>
              </a:spcAft>
              <a:buNone/>
            </a:pPr>
            <a:r>
              <a:rPr lang="en-US" sz="1200" dirty="0">
                <a:solidFill>
                  <a:srgbClr val="4A5568"/>
                </a:solidFill>
                <a:latin typeface="DM Sans" pitchFamily="34" charset="0"/>
                <a:ea typeface="DM Sans" pitchFamily="34" charset="-122"/>
                <a:cs typeface="DM Sans" pitchFamily="34" charset="-120"/>
              </a:rPr>
              <a:t>Authentication happens once, on the device you already trust. The PC never sees a password, never owns the tokens, never remembers you.</a:t>
            </a:r>
            <a:endParaRPr lang="en-US" sz="1200" dirty="0"/>
          </a:p>
        </p:txBody>
      </p:sp>
      <p:sp>
        <p:nvSpPr>
          <p:cNvPr id="12" name="Shape 10"/>
          <p:cNvSpPr/>
          <p:nvPr/>
        </p:nvSpPr>
        <p:spPr>
          <a:xfrm>
            <a:off x="914400" y="3178373"/>
            <a:ext cx="109537" cy="109537"/>
          </a:xfrm>
          <a:prstGeom prst="ellipse">
            <a:avLst/>
          </a:prstGeom>
          <a:solidFill>
            <a:srgbClr val="FFBCA6"/>
          </a:solidFill>
          <a:ln/>
        </p:spPr>
      </p:sp>
      <p:sp>
        <p:nvSpPr>
          <p:cNvPr id="13" name="Text 11"/>
          <p:cNvSpPr/>
          <p:nvPr/>
        </p:nvSpPr>
        <p:spPr>
          <a:xfrm>
            <a:off x="1132768" y="3143101"/>
            <a:ext cx="1843088" cy="190500"/>
          </a:xfrm>
          <a:prstGeom prst="rect">
            <a:avLst/>
          </a:prstGeom>
          <a:ln/>
        </p:spPr>
        <p:txBody>
          <a:bodyPr wrap="square" lIns="0" tIns="0" rIns="0" bIns="0" rtlCol="0" anchor="t"/>
          <a:lstStyle/>
          <a:p>
            <a:pPr algn="l" indent="0" marL="0">
              <a:lnSpc>
                <a:spcPts val="1512"/>
              </a:lnSpc>
              <a:buNone/>
            </a:pPr>
            <a:r>
              <a:rPr lang="en-US" sz="1000" dirty="0">
                <a:solidFill>
                  <a:srgbClr val="2D3748"/>
                </a:solidFill>
                <a:latin typeface="DM Sans" pitchFamily="34" charset="0"/>
                <a:ea typeface="DM Sans" pitchFamily="34" charset="-122"/>
                <a:cs typeface="DM Sans" pitchFamily="34" charset="-120"/>
              </a:rPr>
              <a:t>Lose the PC — nothing leaks.</a:t>
            </a:r>
            <a:endParaRPr lang="en-US" sz="1000" dirty="0"/>
          </a:p>
        </p:txBody>
      </p:sp>
      <p:sp>
        <p:nvSpPr>
          <p:cNvPr id="14" name="Shape 12"/>
          <p:cNvSpPr/>
          <p:nvPr/>
        </p:nvSpPr>
        <p:spPr>
          <a:xfrm>
            <a:off x="914400" y="3447455"/>
            <a:ext cx="109537" cy="109537"/>
          </a:xfrm>
          <a:prstGeom prst="ellipse">
            <a:avLst/>
          </a:prstGeom>
          <a:solidFill>
            <a:srgbClr val="AED9E0"/>
          </a:solidFill>
          <a:ln/>
        </p:spPr>
      </p:sp>
      <p:sp>
        <p:nvSpPr>
          <p:cNvPr id="15" name="Text 13"/>
          <p:cNvSpPr/>
          <p:nvPr/>
        </p:nvSpPr>
        <p:spPr>
          <a:xfrm>
            <a:off x="1133624" y="3412182"/>
            <a:ext cx="2581275" cy="190500"/>
          </a:xfrm>
          <a:prstGeom prst="rect">
            <a:avLst/>
          </a:prstGeom>
          <a:ln/>
        </p:spPr>
        <p:txBody>
          <a:bodyPr wrap="square" lIns="0" tIns="0" rIns="0" bIns="0" rtlCol="0" anchor="t"/>
          <a:lstStyle/>
          <a:p>
            <a:pPr algn="l" indent="0" marL="0">
              <a:lnSpc>
                <a:spcPts val="1512"/>
              </a:lnSpc>
              <a:buNone/>
            </a:pPr>
            <a:r>
              <a:rPr lang="en-US" sz="1000" dirty="0">
                <a:solidFill>
                  <a:srgbClr val="2D3748"/>
                </a:solidFill>
                <a:latin typeface="DM Sans" pitchFamily="34" charset="0"/>
                <a:ea typeface="DM Sans" pitchFamily="34" charset="-122"/>
                <a:cs typeface="DM Sans" pitchFamily="34" charset="-120"/>
              </a:rPr>
              <a:t>Switch PCs — pick up where you left off.</a:t>
            </a:r>
            <a:endParaRPr lang="en-US" sz="1000" dirty="0"/>
          </a:p>
        </p:txBody>
      </p:sp>
      <p:sp>
        <p:nvSpPr>
          <p:cNvPr id="16" name="Shape 14"/>
          <p:cNvSpPr/>
          <p:nvPr/>
        </p:nvSpPr>
        <p:spPr>
          <a:xfrm>
            <a:off x="914400" y="3716536"/>
            <a:ext cx="109537" cy="109537"/>
          </a:xfrm>
          <a:prstGeom prst="ellipse">
            <a:avLst/>
          </a:prstGeom>
          <a:solidFill>
            <a:srgbClr val="C8B6FF"/>
          </a:solidFill>
          <a:ln/>
        </p:spPr>
      </p:sp>
      <p:sp>
        <p:nvSpPr>
          <p:cNvPr id="17" name="Text 15"/>
          <p:cNvSpPr/>
          <p:nvPr/>
        </p:nvSpPr>
        <p:spPr>
          <a:xfrm>
            <a:off x="1134628" y="3679627"/>
            <a:ext cx="3519487" cy="385763"/>
          </a:xfrm>
          <a:prstGeom prst="rect">
            <a:avLst/>
          </a:prstGeom>
          <a:ln/>
        </p:spPr>
        <p:txBody>
          <a:bodyPr wrap="square" lIns="0" tIns="0" rIns="0" bIns="0" rtlCol="0" anchor="t"/>
          <a:lstStyle/>
          <a:p>
            <a:pPr algn="l" indent="0" marL="0">
              <a:lnSpc>
                <a:spcPts val="1512"/>
              </a:lnSpc>
              <a:buNone/>
            </a:pPr>
            <a:r>
              <a:rPr lang="en-US" sz="1000" dirty="0">
                <a:solidFill>
                  <a:srgbClr val="2D3748"/>
                </a:solidFill>
                <a:latin typeface="DM Sans" pitchFamily="34" charset="0"/>
                <a:ea typeface="DM Sans" pitchFamily="34" charset="-122"/>
                <a:cs typeface="DM Sans" pitchFamily="34" charset="-120"/>
              </a:rPr>
              <a:t>The phone is the identity. The screen is borrowed glass.</a:t>
            </a:r>
            <a:endParaRPr lang="en-US" sz="1000" dirty="0"/>
          </a:p>
        </p:txBody>
      </p:sp>
      <p:sp>
        <p:nvSpPr>
          <p:cNvPr id="18" name="Shape 16"/>
          <p:cNvSpPr/>
          <p:nvPr/>
        </p:nvSpPr>
        <p:spPr>
          <a:xfrm>
            <a:off x="5665998" y="1157325"/>
            <a:ext cx="2009775" cy="2924175"/>
          </a:xfrm>
          <a:prstGeom prst="roundRect">
            <a:avLst>
              <a:gd name="adj" fmla="val 6210"/>
            </a:avLst>
          </a:prstGeom>
          <a:solidFill>
            <a:srgbClr val="2D3748"/>
          </a:solidFill>
          <a:ln/>
          <a:effectLst>
            <a:outerShdw sx="100000" sy="100000" kx="0" ky="0" algn="bl" rotWithShape="0" blurRad="365760" dist="182880" dir="5400000">
              <a:srgbClr val="000000">
                <a:alpha val="18000"/>
              </a:srgbClr>
            </a:outerShdw>
          </a:effectLst>
        </p:spPr>
      </p:sp>
      <p:sp>
        <p:nvSpPr>
          <p:cNvPr id="19" name="Shape 17"/>
          <p:cNvSpPr/>
          <p:nvPr/>
        </p:nvSpPr>
        <p:spPr>
          <a:xfrm>
            <a:off x="5801730" y="1293056"/>
            <a:ext cx="1738312" cy="2652713"/>
          </a:xfrm>
          <a:prstGeom prst="roundRect">
            <a:avLst>
              <a:gd name="adj" fmla="val 5534"/>
            </a:avLst>
          </a:prstGeom>
          <a:solidFill>
            <a:srgbClr val="F4E8C1"/>
          </a:solidFill>
          <a:ln/>
        </p:spPr>
      </p:sp>
      <p:sp>
        <p:nvSpPr>
          <p:cNvPr id="20" name="Text 18"/>
          <p:cNvSpPr/>
          <p:nvPr/>
        </p:nvSpPr>
        <p:spPr>
          <a:xfrm>
            <a:off x="5985086" y="1475891"/>
            <a:ext cx="1371600" cy="138113"/>
          </a:xfrm>
          <a:prstGeom prst="rect">
            <a:avLst/>
          </a:prstGeom>
          <a:ln/>
        </p:spPr>
        <p:txBody>
          <a:bodyPr wrap="square" lIns="0" tIns="0" rIns="0" bIns="0" rtlCol="0" anchor="t"/>
          <a:lstStyle/>
          <a:p>
            <a:pPr algn="l" indent="0" marL="0">
              <a:lnSpc>
                <a:spcPts val="1080"/>
              </a:lnSpc>
              <a:buNone/>
            </a:pPr>
            <a:r>
              <a:rPr lang="en-US" sz="700" b="1" dirty="0">
                <a:solidFill>
                  <a:srgbClr val="4A5568"/>
                </a:solidFill>
                <a:latin typeface="DM Sans" pitchFamily="34" charset="0"/>
                <a:ea typeface="DM Sans" pitchFamily="34" charset="-122"/>
                <a:cs typeface="DM Sans" pitchFamily="34" charset="-120"/>
              </a:rPr>
              <a:t>LINKED ACCOUNTS</a:t>
            </a:r>
            <a:endParaRPr lang="en-US" sz="700" dirty="0"/>
          </a:p>
        </p:txBody>
      </p:sp>
      <p:sp>
        <p:nvSpPr>
          <p:cNvPr id="21" name="Shape 19"/>
          <p:cNvSpPr/>
          <p:nvPr/>
        </p:nvSpPr>
        <p:spPr>
          <a:xfrm>
            <a:off x="5985086" y="1724285"/>
            <a:ext cx="1371600" cy="400050"/>
          </a:xfrm>
          <a:prstGeom prst="roundRect">
            <a:avLst>
              <a:gd name="adj" fmla="val 13061"/>
            </a:avLst>
          </a:prstGeom>
          <a:solidFill>
            <a:srgbClr val="FFFFFF"/>
          </a:solidFill>
          <a:ln/>
        </p:spPr>
      </p:sp>
      <p:sp>
        <p:nvSpPr>
          <p:cNvPr id="22" name="Shape 20"/>
          <p:cNvSpPr/>
          <p:nvPr/>
        </p:nvSpPr>
        <p:spPr>
          <a:xfrm>
            <a:off x="6095665" y="1833823"/>
            <a:ext cx="180975" cy="180975"/>
          </a:xfrm>
          <a:prstGeom prst="roundRect">
            <a:avLst>
              <a:gd name="adj" fmla="val 31911"/>
            </a:avLst>
          </a:prstGeom>
          <a:solidFill>
            <a:srgbClr val="FFBCA6"/>
          </a:solidFill>
          <a:ln/>
        </p:spPr>
      </p:sp>
      <p:sp>
        <p:nvSpPr>
          <p:cNvPr id="23" name="Text 21"/>
          <p:cNvSpPr/>
          <p:nvPr/>
        </p:nvSpPr>
        <p:spPr>
          <a:xfrm>
            <a:off x="6369100" y="1848073"/>
            <a:ext cx="285750" cy="152400"/>
          </a:xfrm>
          <a:prstGeom prst="rect">
            <a:avLst/>
          </a:prstGeom>
          <a:ln/>
        </p:spPr>
        <p:txBody>
          <a:bodyPr wrap="square" lIns="0" tIns="0" rIns="0" bIns="0" rtlCol="0" anchor="t"/>
          <a:lstStyle/>
          <a:p>
            <a:pPr algn="l" indent="0" marL="0">
              <a:lnSpc>
                <a:spcPts val="1188"/>
              </a:lnSpc>
              <a:buNone/>
            </a:pPr>
            <a:r>
              <a:rPr lang="en-US" sz="700" b="1" dirty="0">
                <a:solidFill>
                  <a:srgbClr val="1A202C"/>
                </a:solidFill>
                <a:latin typeface="DM Sans" pitchFamily="34" charset="0"/>
                <a:ea typeface="DM Sans" pitchFamily="34" charset="-122"/>
                <a:cs typeface="DM Sans" pitchFamily="34" charset="-120"/>
              </a:rPr>
              <a:t>Gmail</a:t>
            </a:r>
            <a:endParaRPr lang="en-US" sz="700" dirty="0"/>
          </a:p>
        </p:txBody>
      </p:sp>
      <p:sp>
        <p:nvSpPr>
          <p:cNvPr id="24" name="Shape 22"/>
          <p:cNvSpPr/>
          <p:nvPr/>
        </p:nvSpPr>
        <p:spPr>
          <a:xfrm>
            <a:off x="5985086" y="2236180"/>
            <a:ext cx="1371600" cy="400050"/>
          </a:xfrm>
          <a:prstGeom prst="roundRect">
            <a:avLst>
              <a:gd name="adj" fmla="val 13061"/>
            </a:avLst>
          </a:prstGeom>
          <a:solidFill>
            <a:srgbClr val="FFFFFF"/>
          </a:solidFill>
          <a:ln/>
        </p:spPr>
      </p:sp>
      <p:sp>
        <p:nvSpPr>
          <p:cNvPr id="25" name="Shape 23"/>
          <p:cNvSpPr/>
          <p:nvPr/>
        </p:nvSpPr>
        <p:spPr>
          <a:xfrm>
            <a:off x="6095665" y="2345717"/>
            <a:ext cx="180975" cy="180975"/>
          </a:xfrm>
          <a:prstGeom prst="roundRect">
            <a:avLst>
              <a:gd name="adj" fmla="val 31911"/>
            </a:avLst>
          </a:prstGeom>
          <a:solidFill>
            <a:srgbClr val="AED9E0"/>
          </a:solidFill>
          <a:ln/>
        </p:spPr>
      </p:sp>
      <p:sp>
        <p:nvSpPr>
          <p:cNvPr id="26" name="Text 24"/>
          <p:cNvSpPr/>
          <p:nvPr/>
        </p:nvSpPr>
        <p:spPr>
          <a:xfrm>
            <a:off x="6369583" y="2359968"/>
            <a:ext cx="390525" cy="152400"/>
          </a:xfrm>
          <a:prstGeom prst="rect">
            <a:avLst/>
          </a:prstGeom>
          <a:ln/>
        </p:spPr>
        <p:txBody>
          <a:bodyPr wrap="square" lIns="0" tIns="0" rIns="0" bIns="0" rtlCol="0" anchor="t"/>
          <a:lstStyle/>
          <a:p>
            <a:pPr algn="l" indent="0" marL="0">
              <a:lnSpc>
                <a:spcPts val="1188"/>
              </a:lnSpc>
              <a:buNone/>
            </a:pPr>
            <a:r>
              <a:rPr lang="en-US" sz="700" b="1" dirty="0">
                <a:solidFill>
                  <a:srgbClr val="1A202C"/>
                </a:solidFill>
                <a:latin typeface="DM Sans" pitchFamily="34" charset="0"/>
                <a:ea typeface="DM Sans" pitchFamily="34" charset="-122"/>
                <a:cs typeface="DM Sans" pitchFamily="34" charset="-120"/>
              </a:rPr>
              <a:t>Outlook</a:t>
            </a:r>
            <a:endParaRPr lang="en-US" sz="700" dirty="0"/>
          </a:p>
        </p:txBody>
      </p:sp>
      <p:sp>
        <p:nvSpPr>
          <p:cNvPr id="27" name="Shape 25"/>
          <p:cNvSpPr/>
          <p:nvPr/>
        </p:nvSpPr>
        <p:spPr>
          <a:xfrm>
            <a:off x="5985086" y="2748074"/>
            <a:ext cx="1371600" cy="400050"/>
          </a:xfrm>
          <a:prstGeom prst="roundRect">
            <a:avLst>
              <a:gd name="adj" fmla="val 13061"/>
            </a:avLst>
          </a:prstGeom>
          <a:solidFill>
            <a:srgbClr val="FFFFFF"/>
          </a:solidFill>
          <a:ln/>
        </p:spPr>
      </p:sp>
      <p:sp>
        <p:nvSpPr>
          <p:cNvPr id="28" name="Shape 26"/>
          <p:cNvSpPr/>
          <p:nvPr/>
        </p:nvSpPr>
        <p:spPr>
          <a:xfrm>
            <a:off x="6095665" y="2857612"/>
            <a:ext cx="180975" cy="180975"/>
          </a:xfrm>
          <a:prstGeom prst="roundRect">
            <a:avLst>
              <a:gd name="adj" fmla="val 31911"/>
            </a:avLst>
          </a:prstGeom>
          <a:solidFill>
            <a:srgbClr val="C8B6FF"/>
          </a:solidFill>
          <a:ln/>
        </p:spPr>
      </p:sp>
      <p:sp>
        <p:nvSpPr>
          <p:cNvPr id="29" name="Text 27"/>
          <p:cNvSpPr/>
          <p:nvPr/>
        </p:nvSpPr>
        <p:spPr>
          <a:xfrm>
            <a:off x="6369323" y="2871862"/>
            <a:ext cx="447675" cy="152400"/>
          </a:xfrm>
          <a:prstGeom prst="rect">
            <a:avLst/>
          </a:prstGeom>
          <a:ln/>
        </p:spPr>
        <p:txBody>
          <a:bodyPr wrap="square" lIns="0" tIns="0" rIns="0" bIns="0" rtlCol="0" anchor="t"/>
          <a:lstStyle/>
          <a:p>
            <a:pPr algn="l" indent="0" marL="0">
              <a:lnSpc>
                <a:spcPts val="1188"/>
              </a:lnSpc>
              <a:buNone/>
            </a:pPr>
            <a:r>
              <a:rPr lang="en-US" sz="700" b="1" dirty="0">
                <a:solidFill>
                  <a:srgbClr val="1A202C"/>
                </a:solidFill>
                <a:latin typeface="DM Sans" pitchFamily="34" charset="0"/>
                <a:ea typeface="DM Sans" pitchFamily="34" charset="-122"/>
                <a:cs typeface="DM Sans" pitchFamily="34" charset="-120"/>
              </a:rPr>
              <a:t>Calendar</a:t>
            </a:r>
            <a:endParaRPr lang="en-US" sz="700" dirty="0"/>
          </a:p>
        </p:txBody>
      </p:sp>
      <p:sp>
        <p:nvSpPr>
          <p:cNvPr id="30" name="Text 28"/>
          <p:cNvSpPr/>
          <p:nvPr/>
        </p:nvSpPr>
        <p:spPr>
          <a:xfrm>
            <a:off x="6111292" y="3428926"/>
            <a:ext cx="1119188" cy="333375"/>
          </a:xfrm>
          <a:prstGeom prst="roundRect">
            <a:avLst>
              <a:gd name="adj" fmla="val 18808"/>
            </a:avLst>
          </a:prstGeom>
          <a:solidFill>
            <a:srgbClr val="2D3748"/>
          </a:solidFill>
          <a:ln/>
        </p:spPr>
        <p:txBody>
          <a:bodyPr wrap="square" lIns="0" tIns="0" rIns="0" bIns="0" rtlCol="0" anchor="ctr"/>
          <a:lstStyle/>
          <a:p>
            <a:pPr algn="l" indent="0" marL="0">
              <a:lnSpc>
                <a:spcPts val="1188"/>
              </a:lnSpc>
              <a:buNone/>
            </a:pPr>
            <a:r>
              <a:rPr lang="en-US" sz="700" b="1" dirty="0">
                <a:solidFill>
                  <a:srgbClr val="FFFFFF"/>
                </a:solidFill>
                <a:latin typeface="DM Sans" pitchFamily="34" charset="0"/>
                <a:ea typeface="DM Sans" pitchFamily="34" charset="-122"/>
                <a:cs typeface="DM Sans" pitchFamily="34" charset="-120"/>
              </a:rPr>
              <a:t>Scan to project</a:t>
            </a:r>
            <a:endParaRPr lang="en-US" sz="700" dirty="0"/>
          </a:p>
        </p:txBody>
      </p:sp>
      <p:sp>
        <p:nvSpPr>
          <p:cNvPr id="31" name="Shape 29"/>
          <p:cNvSpPr/>
          <p:nvPr/>
        </p:nvSpPr>
        <p:spPr>
          <a:xfrm>
            <a:off x="914326" y="4347790"/>
            <a:ext cx="7315200" cy="280987"/>
          </a:xfrm>
          <a:prstGeom prst="rect">
            <a:avLst/>
          </a:prstGeom>
          <a:ln/>
        </p:spPr>
      </p:sp>
      <p:sp>
        <p:nvSpPr>
          <p:cNvPr id="32" name="Text 30"/>
          <p:cNvSpPr/>
          <p:nvPr/>
        </p:nvSpPr>
        <p:spPr>
          <a:xfrm>
            <a:off x="915405" y="4463504"/>
            <a:ext cx="452437" cy="166688"/>
          </a:xfrm>
          <a:prstGeom prst="rect">
            <a:avLst/>
          </a:prstGeom>
          <a:ln/>
        </p:spPr>
        <p:txBody>
          <a:bodyPr wrap="square" lIns="0" tIns="0" rIns="0" bIns="0" rtlCol="0" anchor="t"/>
          <a:lstStyle/>
          <a:p>
            <a:pPr algn="l" indent="0" marL="0">
              <a:lnSpc>
                <a:spcPts val="1296"/>
              </a:lnSpc>
              <a:buNone/>
            </a:pPr>
            <a:r>
              <a:rPr lang="en-US" sz="800" dirty="0">
                <a:solidFill>
                  <a:srgbClr val="718096"/>
                </a:solidFill>
                <a:latin typeface="DM Sans" pitchFamily="34" charset="0"/>
                <a:ea typeface="DM Sans" pitchFamily="34" charset="-122"/>
                <a:cs typeface="DM Sans" pitchFamily="34" charset="-120"/>
              </a:rPr>
              <a:t>fade.app</a:t>
            </a:r>
            <a:endParaRPr lang="en-US" sz="800" dirty="0"/>
          </a:p>
        </p:txBody>
      </p:sp>
      <p:sp>
        <p:nvSpPr>
          <p:cNvPr id="33" name="Text 31"/>
          <p:cNvSpPr/>
          <p:nvPr/>
        </p:nvSpPr>
        <p:spPr>
          <a:xfrm>
            <a:off x="8083004" y="4463504"/>
            <a:ext cx="147637" cy="166688"/>
          </a:xfrm>
          <a:prstGeom prst="rect">
            <a:avLst/>
          </a:prstGeom>
          <a:ln/>
        </p:spPr>
        <p:txBody>
          <a:bodyPr wrap="square" lIns="0" tIns="0" rIns="0" bIns="0" rtlCol="0" anchor="t"/>
          <a:lstStyle/>
          <a:p>
            <a:pPr algn="l" indent="0" marL="0">
              <a:lnSpc>
                <a:spcPts val="1296"/>
              </a:lnSpc>
              <a:buNone/>
            </a:pPr>
            <a:r>
              <a:rPr lang="en-US" sz="800" b="1" dirty="0">
                <a:solidFill>
                  <a:srgbClr val="2D3748"/>
                </a:solidFill>
                <a:latin typeface="DM Sans" pitchFamily="34" charset="0"/>
                <a:ea typeface="DM Sans" pitchFamily="34" charset="-122"/>
                <a:cs typeface="DM Sans" pitchFamily="34" charset="-120"/>
              </a:rPr>
              <a:t>05</a:t>
            </a:r>
            <a:endParaRPr lang="en-US" sz="800" dirty="0"/>
          </a:p>
        </p:txBody>
      </p:sp>
      <p:pic>
        <p:nvPicPr>
          <p:cNvPr id="3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326" y="4347790"/>
            <a:ext cx="7315200" cy="28098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5943600" y="-771525"/>
            <a:ext cx="3657600" cy="3657600"/>
          </a:xfrm>
          <a:prstGeom prst="ellipse">
            <a:avLst/>
          </a:prstGeom>
          <a:solidFill>
            <a:srgbClr val="F4E8C1"/>
          </a:solidFill>
          <a:ln/>
        </p:spPr>
      </p:sp>
      <p:sp>
        <p:nvSpPr>
          <p:cNvPr id="4" name="Shape 2"/>
          <p:cNvSpPr/>
          <p:nvPr/>
        </p:nvSpPr>
        <p:spPr>
          <a:xfrm>
            <a:off x="-913470" y="2732745"/>
            <a:ext cx="2924175" cy="2924175"/>
          </a:xfrm>
          <a:prstGeom prst="ellipse">
            <a:avLst/>
          </a:prstGeom>
          <a:solidFill>
            <a:srgbClr val="AED9E0"/>
          </a:solidFill>
          <a:ln/>
        </p:spPr>
      </p:sp>
      <p:sp>
        <p:nvSpPr>
          <p:cNvPr id="5" name="Shape 3"/>
          <p:cNvSpPr/>
          <p:nvPr/>
        </p:nvSpPr>
        <p:spPr>
          <a:xfrm rot="900000">
            <a:off x="5030130" y="1028700"/>
            <a:ext cx="638175" cy="1828800"/>
          </a:xfrm>
          <a:prstGeom prst="roundRect">
            <a:avLst>
              <a:gd name="adj" fmla="val 71642"/>
            </a:avLst>
          </a:prstGeom>
          <a:solidFill>
            <a:srgbClr val="FFBCA6">
              <a:alpha val="40000"/>
            </a:srgbClr>
          </a:solidFill>
          <a:ln/>
        </p:spPr>
      </p:sp>
      <p:sp>
        <p:nvSpPr>
          <p:cNvPr id="6" name="Shape 4"/>
          <p:cNvSpPr/>
          <p:nvPr/>
        </p:nvSpPr>
        <p:spPr>
          <a:xfrm>
            <a:off x="5943600" y="411435"/>
            <a:ext cx="457200" cy="457200"/>
          </a:xfrm>
          <a:prstGeom prst="ellipse">
            <a:avLst/>
          </a:prstGeom>
          <a:solidFill>
            <a:srgbClr val="C8B6FF"/>
          </a:solidFill>
          <a:ln/>
        </p:spPr>
      </p:sp>
      <p:sp>
        <p:nvSpPr>
          <p:cNvPr id="7" name="Shape 5"/>
          <p:cNvSpPr/>
          <p:nvPr/>
        </p:nvSpPr>
        <p:spPr>
          <a:xfrm>
            <a:off x="547613" y="309525"/>
            <a:ext cx="8048625" cy="4524375"/>
          </a:xfrm>
          <a:prstGeom prst="roundRect">
            <a:avLst>
              <a:gd name="adj" fmla="val 817"/>
            </a:avLst>
          </a:prstGeom>
          <a:solidFill>
            <a:srgbClr val="FFFFFF">
              <a:alpha val="55000"/>
            </a:srgbClr>
          </a:solidFill>
          <a:ln/>
        </p:spPr>
      </p:sp>
      <p:sp>
        <p:nvSpPr>
          <p:cNvPr id="8" name="Text 6"/>
          <p:cNvSpPr/>
          <p:nvPr/>
        </p:nvSpPr>
        <p:spPr>
          <a:xfrm>
            <a:off x="913358" y="513308"/>
            <a:ext cx="276225" cy="276225"/>
          </a:xfrm>
          <a:prstGeom prst="roundRect">
            <a:avLst>
              <a:gd name="adj" fmla="val 21917"/>
            </a:avLst>
          </a:prstGeom>
          <a:solidFill>
            <a:srgbClr val="2D3748"/>
          </a:solidFill>
          <a:ln/>
        </p:spPr>
        <p:txBody>
          <a:bodyPr wrap="square" lIns="0" tIns="0" rIns="0" bIns="0" rtlCol="0" anchor="ctr"/>
          <a:lstStyle/>
          <a:p>
            <a:pPr algn="ctr" indent="0" marL="0">
              <a:lnSpc>
                <a:spcPts val="1620"/>
              </a:lnSpc>
              <a:buNone/>
            </a:pPr>
            <a:r>
              <a:rPr lang="en-US" sz="1000" b="1" dirty="0">
                <a:solidFill>
                  <a:srgbClr val="FFFFFF"/>
                </a:solidFill>
                <a:latin typeface="DM Sans" pitchFamily="34" charset="0"/>
                <a:ea typeface="DM Sans" pitchFamily="34" charset="-122"/>
                <a:cs typeface="DM Sans" pitchFamily="34" charset="-120"/>
              </a:rPr>
              <a:t>F</a:t>
            </a:r>
            <a:endParaRPr lang="en-US" sz="1000" dirty="0"/>
          </a:p>
        </p:txBody>
      </p:sp>
      <p:sp>
        <p:nvSpPr>
          <p:cNvPr id="9" name="Text 7"/>
          <p:cNvSpPr/>
          <p:nvPr/>
        </p:nvSpPr>
        <p:spPr>
          <a:xfrm>
            <a:off x="1279959" y="549027"/>
            <a:ext cx="595313" cy="204787"/>
          </a:xfrm>
          <a:prstGeom prst="rect">
            <a:avLst/>
          </a:prstGeom>
          <a:ln/>
        </p:spPr>
        <p:txBody>
          <a:bodyPr wrap="square" lIns="0" tIns="0" rIns="0" bIns="0" rtlCol="0" anchor="t"/>
          <a:lstStyle/>
          <a:p>
            <a:pPr algn="l" indent="0" marL="0">
              <a:lnSpc>
                <a:spcPts val="1620"/>
              </a:lnSpc>
              <a:buNone/>
            </a:pPr>
            <a:r>
              <a:rPr lang="en-US" sz="1000" b="1" dirty="0">
                <a:solidFill>
                  <a:srgbClr val="2D3748"/>
                </a:solidFill>
                <a:latin typeface="DM Sans" pitchFamily="34" charset="0"/>
                <a:ea typeface="DM Sans" pitchFamily="34" charset="-122"/>
                <a:cs typeface="DM Sans" pitchFamily="34" charset="-120"/>
              </a:rPr>
              <a:t>fade.app</a:t>
            </a:r>
            <a:endParaRPr lang="en-US" sz="1000" dirty="0"/>
          </a:p>
        </p:txBody>
      </p:sp>
      <p:sp>
        <p:nvSpPr>
          <p:cNvPr id="10" name="Text 8"/>
          <p:cNvSpPr/>
          <p:nvPr/>
        </p:nvSpPr>
        <p:spPr>
          <a:xfrm>
            <a:off x="7533047" y="541846"/>
            <a:ext cx="695325" cy="219075"/>
          </a:xfrm>
          <a:prstGeom prst="roundRect">
            <a:avLst>
              <a:gd name="adj" fmla="val 52174"/>
            </a:avLst>
          </a:prstGeom>
          <a:solidFill>
            <a:srgbClr val="C8B6FF"/>
          </a:solidFill>
          <a:ln/>
        </p:spPr>
        <p:txBody>
          <a:bodyPr wrap="square" lIns="0" tIns="0" rIns="0" bIns="0" rtlCol="0" anchor="ctr"/>
          <a:lstStyle/>
          <a:p>
            <a:pPr algn="l" indent="0" marL="0">
              <a:lnSpc>
                <a:spcPts val="1080"/>
              </a:lnSpc>
              <a:buNone/>
            </a:pPr>
            <a:r>
              <a:rPr lang="en-US" sz="700" b="1" dirty="0">
                <a:solidFill>
                  <a:srgbClr val="2D3748"/>
                </a:solidFill>
                <a:latin typeface="DM Sans" pitchFamily="34" charset="0"/>
                <a:ea typeface="DM Sans" pitchFamily="34" charset="-122"/>
                <a:cs typeface="DM Sans" pitchFamily="34" charset="-120"/>
              </a:rPr>
              <a:t>Roadmap</a:t>
            </a:r>
            <a:endParaRPr lang="en-US" sz="700" dirty="0"/>
          </a:p>
        </p:txBody>
      </p:sp>
      <p:sp>
        <p:nvSpPr>
          <p:cNvPr id="11" name="Text 9"/>
          <p:cNvSpPr/>
          <p:nvPr/>
        </p:nvSpPr>
        <p:spPr>
          <a:xfrm>
            <a:off x="914326" y="942119"/>
            <a:ext cx="6400800" cy="423862"/>
          </a:xfrm>
          <a:prstGeom prst="rect">
            <a:avLst/>
          </a:prstGeom>
          <a:ln/>
        </p:spPr>
        <p:txBody>
          <a:bodyPr wrap="square" lIns="0" tIns="0" rIns="0" bIns="0" rtlCol="0" anchor="t"/>
          <a:lstStyle/>
          <a:p>
            <a:pPr algn="l" indent="0" marL="0">
              <a:lnSpc>
                <a:spcPts val="3326"/>
              </a:lnSpc>
              <a:spcAft>
                <a:spcPts val="607"/>
              </a:spcAft>
              <a:buNone/>
            </a:pPr>
            <a:r>
              <a:rPr lang="en-US" sz="3000" b="1" dirty="0">
                <a:solidFill>
                  <a:srgbClr val="1A202C"/>
                </a:solidFill>
                <a:latin typeface="DM Sans" pitchFamily="34" charset="0"/>
                <a:ea typeface="DM Sans" pitchFamily="34" charset="-122"/>
                <a:cs typeface="DM Sans" pitchFamily="34" charset="-120"/>
              </a:rPr>
              <a:t>Built to grow beyond email.</a:t>
            </a:r>
            <a:endParaRPr lang="en-US" sz="3000" dirty="0"/>
          </a:p>
        </p:txBody>
      </p:sp>
      <p:sp>
        <p:nvSpPr>
          <p:cNvPr id="12" name="Text 10"/>
          <p:cNvSpPr/>
          <p:nvPr/>
        </p:nvSpPr>
        <p:spPr>
          <a:xfrm>
            <a:off x="914326" y="1442145"/>
            <a:ext cx="5029200" cy="466725"/>
          </a:xfrm>
          <a:prstGeom prst="rect">
            <a:avLst/>
          </a:prstGeom>
          <a:ln/>
        </p:spPr>
        <p:txBody>
          <a:bodyPr wrap="square" lIns="0" tIns="0" rIns="0" bIns="0" rtlCol="0" anchor="t"/>
          <a:lstStyle/>
          <a:p>
            <a:pPr algn="l" indent="0" marL="0">
              <a:lnSpc>
                <a:spcPts val="1836"/>
              </a:lnSpc>
              <a:spcAft>
                <a:spcPts val="1620"/>
              </a:spcAft>
              <a:buNone/>
            </a:pPr>
            <a:r>
              <a:rPr lang="en-US" sz="1200" dirty="0">
                <a:solidFill>
                  <a:srgbClr val="4A5568"/>
                </a:solidFill>
                <a:latin typeface="DM Sans" pitchFamily="34" charset="0"/>
                <a:ea typeface="DM Sans" pitchFamily="34" charset="-122"/>
                <a:cs typeface="DM Sans" pitchFamily="34" charset="-120"/>
              </a:rPr>
              <a:t>Email and calendar today. Anything OAuth tomorrow. The same beam. The same vanish.</a:t>
            </a:r>
            <a:endParaRPr lang="en-US" sz="1200" dirty="0"/>
          </a:p>
        </p:txBody>
      </p:sp>
      <p:sp>
        <p:nvSpPr>
          <p:cNvPr id="13" name="Shape 11"/>
          <p:cNvSpPr/>
          <p:nvPr/>
        </p:nvSpPr>
        <p:spPr>
          <a:xfrm>
            <a:off x="915293" y="2115257"/>
            <a:ext cx="2314575" cy="1952625"/>
          </a:xfrm>
          <a:prstGeom prst="roundRect">
            <a:avLst>
              <a:gd name="adj" fmla="val 3289"/>
            </a:avLst>
          </a:prstGeom>
          <a:solidFill>
            <a:srgbClr val="FFFFFF"/>
          </a:solidFill>
          <a:ln/>
          <a:effectLst>
            <a:outerShdw sx="100000" sy="100000" kx="0" ky="0" algn="bl" rotWithShape="0" blurRad="182880" dist="91440" dir="5400000">
              <a:srgbClr val="000000">
                <a:alpha val="5000"/>
              </a:srgbClr>
            </a:outerShdw>
          </a:effectLst>
        </p:spPr>
      </p:sp>
      <p:sp>
        <p:nvSpPr>
          <p:cNvPr id="14" name="Text 12"/>
          <p:cNvSpPr/>
          <p:nvPr/>
        </p:nvSpPr>
        <p:spPr>
          <a:xfrm>
            <a:off x="1114574" y="2314835"/>
            <a:ext cx="566738" cy="200025"/>
          </a:xfrm>
          <a:prstGeom prst="roundRect">
            <a:avLst>
              <a:gd name="adj" fmla="val 57143"/>
            </a:avLst>
          </a:prstGeom>
          <a:solidFill>
            <a:srgbClr val="FFBCA6"/>
          </a:solidFill>
          <a:ln/>
        </p:spPr>
        <p:txBody>
          <a:bodyPr wrap="square" lIns="0" tIns="0" rIns="0" bIns="0" rtlCol="0" anchor="ctr"/>
          <a:lstStyle/>
          <a:p>
            <a:pPr algn="l" indent="0" marL="0">
              <a:lnSpc>
                <a:spcPts val="1080"/>
              </a:lnSpc>
              <a:spcAft>
                <a:spcPts val="810"/>
              </a:spcAft>
              <a:buNone/>
            </a:pPr>
            <a:r>
              <a:rPr lang="en-US" sz="700" b="1" dirty="0">
                <a:solidFill>
                  <a:srgbClr val="1A202C"/>
                </a:solidFill>
                <a:latin typeface="DM Sans" pitchFamily="34" charset="0"/>
                <a:ea typeface="DM Sans" pitchFamily="34" charset="-122"/>
                <a:cs typeface="DM Sans" pitchFamily="34" charset="-120"/>
              </a:rPr>
              <a:t>TODAY</a:t>
            </a:r>
            <a:endParaRPr lang="en-US" sz="700" dirty="0"/>
          </a:p>
        </p:txBody>
      </p:sp>
      <p:sp>
        <p:nvSpPr>
          <p:cNvPr id="15" name="Text 13"/>
          <p:cNvSpPr/>
          <p:nvPr/>
        </p:nvSpPr>
        <p:spPr>
          <a:xfrm>
            <a:off x="1115318" y="2616957"/>
            <a:ext cx="1914525" cy="233362"/>
          </a:xfrm>
          <a:prstGeom prst="rect">
            <a:avLst/>
          </a:prstGeom>
          <a:ln/>
        </p:spPr>
        <p:txBody>
          <a:bodyPr wrap="square" lIns="0" tIns="0" rIns="0" bIns="0" rtlCol="0" anchor="t"/>
          <a:lstStyle/>
          <a:p>
            <a:pPr algn="l" indent="0" marL="0">
              <a:lnSpc>
                <a:spcPts val="1836"/>
              </a:lnSpc>
              <a:spcAft>
                <a:spcPts val="607"/>
              </a:spcAft>
              <a:buNone/>
            </a:pPr>
            <a:r>
              <a:rPr lang="en-US" sz="1200" b="1" dirty="0">
                <a:solidFill>
                  <a:srgbClr val="1A202C"/>
                </a:solidFill>
                <a:latin typeface="DM Sans" pitchFamily="34" charset="0"/>
                <a:ea typeface="DM Sans" pitchFamily="34" charset="-122"/>
                <a:cs typeface="DM Sans" pitchFamily="34" charset="-120"/>
              </a:rPr>
              <a:t>Email &amp; calendar</a:t>
            </a:r>
            <a:endParaRPr lang="en-US" sz="1200" dirty="0"/>
          </a:p>
        </p:txBody>
      </p:sp>
      <p:sp>
        <p:nvSpPr>
          <p:cNvPr id="16" name="Text 14"/>
          <p:cNvSpPr/>
          <p:nvPr/>
        </p:nvSpPr>
        <p:spPr>
          <a:xfrm>
            <a:off x="1115318" y="2927114"/>
            <a:ext cx="1914525" cy="166688"/>
          </a:xfrm>
          <a:prstGeom prst="rect">
            <a:avLst/>
          </a:prstGeom>
          <a:ln/>
        </p:spPr>
        <p:txBody>
          <a:bodyPr wrap="square" lIns="0" tIns="0" rIns="0" bIns="0" rtlCol="0" anchor="t"/>
          <a:lstStyle/>
          <a:p>
            <a:pPr algn="l" indent="0" marL="0">
              <a:lnSpc>
                <a:spcPts val="1310"/>
              </a:lnSpc>
              <a:buNone/>
            </a:pPr>
            <a:r>
              <a:rPr lang="en-US" sz="900" dirty="0">
                <a:solidFill>
                  <a:srgbClr val="4A5568"/>
                </a:solidFill>
                <a:latin typeface="DM Sans" pitchFamily="34" charset="0"/>
                <a:ea typeface="DM Sans" pitchFamily="34" charset="-122"/>
                <a:cs typeface="DM Sans" pitchFamily="34" charset="-120"/>
              </a:rPr>
              <a:t>Gmail</a:t>
            </a:r>
            <a:endParaRPr lang="en-US" sz="900" dirty="0"/>
          </a:p>
        </p:txBody>
      </p:sp>
      <p:sp>
        <p:nvSpPr>
          <p:cNvPr id="17" name="Text 15"/>
          <p:cNvSpPr/>
          <p:nvPr/>
        </p:nvSpPr>
        <p:spPr>
          <a:xfrm>
            <a:off x="1115318" y="3144850"/>
            <a:ext cx="1914525" cy="166688"/>
          </a:xfrm>
          <a:prstGeom prst="rect">
            <a:avLst/>
          </a:prstGeom>
          <a:ln/>
        </p:spPr>
        <p:txBody>
          <a:bodyPr wrap="square" lIns="0" tIns="0" rIns="0" bIns="0" rtlCol="0" anchor="t"/>
          <a:lstStyle/>
          <a:p>
            <a:pPr algn="l" indent="0" marL="0">
              <a:lnSpc>
                <a:spcPts val="1310"/>
              </a:lnSpc>
              <a:buNone/>
            </a:pPr>
            <a:r>
              <a:rPr lang="en-US" sz="900" dirty="0">
                <a:solidFill>
                  <a:srgbClr val="4A5568"/>
                </a:solidFill>
                <a:latin typeface="DM Sans" pitchFamily="34" charset="0"/>
                <a:ea typeface="DM Sans" pitchFamily="34" charset="-122"/>
                <a:cs typeface="DM Sans" pitchFamily="34" charset="-120"/>
              </a:rPr>
              <a:t>Outlook</a:t>
            </a:r>
            <a:endParaRPr lang="en-US" sz="900" dirty="0"/>
          </a:p>
        </p:txBody>
      </p:sp>
      <p:sp>
        <p:nvSpPr>
          <p:cNvPr id="18" name="Text 16"/>
          <p:cNvSpPr/>
          <p:nvPr/>
        </p:nvSpPr>
        <p:spPr>
          <a:xfrm>
            <a:off x="1115318" y="3362585"/>
            <a:ext cx="1914525" cy="166688"/>
          </a:xfrm>
          <a:prstGeom prst="rect">
            <a:avLst/>
          </a:prstGeom>
          <a:ln/>
        </p:spPr>
        <p:txBody>
          <a:bodyPr wrap="square" lIns="0" tIns="0" rIns="0" bIns="0" rtlCol="0" anchor="t"/>
          <a:lstStyle/>
          <a:p>
            <a:pPr algn="l" indent="0" marL="0">
              <a:lnSpc>
                <a:spcPts val="1310"/>
              </a:lnSpc>
              <a:buNone/>
            </a:pPr>
            <a:r>
              <a:rPr lang="en-US" sz="900" dirty="0">
                <a:solidFill>
                  <a:srgbClr val="4A5568"/>
                </a:solidFill>
                <a:latin typeface="DM Sans" pitchFamily="34" charset="0"/>
                <a:ea typeface="DM Sans" pitchFamily="34" charset="-122"/>
                <a:cs typeface="DM Sans" pitchFamily="34" charset="-120"/>
              </a:rPr>
              <a:t>Google Calendar</a:t>
            </a:r>
            <a:endParaRPr lang="en-US" sz="900" dirty="0"/>
          </a:p>
        </p:txBody>
      </p:sp>
      <p:sp>
        <p:nvSpPr>
          <p:cNvPr id="19" name="Shape 17"/>
          <p:cNvSpPr/>
          <p:nvPr/>
        </p:nvSpPr>
        <p:spPr>
          <a:xfrm>
            <a:off x="3414638" y="2115257"/>
            <a:ext cx="2314575" cy="1952625"/>
          </a:xfrm>
          <a:prstGeom prst="roundRect">
            <a:avLst>
              <a:gd name="adj" fmla="val 3289"/>
            </a:avLst>
          </a:prstGeom>
          <a:solidFill>
            <a:srgbClr val="FFFFFF"/>
          </a:solidFill>
          <a:ln/>
          <a:effectLst>
            <a:outerShdw sx="100000" sy="100000" kx="0" ky="0" algn="bl" rotWithShape="0" blurRad="182880" dist="91440" dir="5400000">
              <a:srgbClr val="000000">
                <a:alpha val="5000"/>
              </a:srgbClr>
            </a:outerShdw>
          </a:effectLst>
        </p:spPr>
      </p:sp>
      <p:sp>
        <p:nvSpPr>
          <p:cNvPr id="20" name="Text 18"/>
          <p:cNvSpPr/>
          <p:nvPr/>
        </p:nvSpPr>
        <p:spPr>
          <a:xfrm>
            <a:off x="3615742" y="2314835"/>
            <a:ext cx="519112" cy="200025"/>
          </a:xfrm>
          <a:prstGeom prst="roundRect">
            <a:avLst>
              <a:gd name="adj" fmla="val 57143"/>
            </a:avLst>
          </a:prstGeom>
          <a:solidFill>
            <a:srgbClr val="AED9E0"/>
          </a:solidFill>
          <a:ln/>
        </p:spPr>
        <p:txBody>
          <a:bodyPr wrap="square" lIns="0" tIns="0" rIns="0" bIns="0" rtlCol="0" anchor="ctr"/>
          <a:lstStyle/>
          <a:p>
            <a:pPr algn="l" indent="0" marL="0">
              <a:lnSpc>
                <a:spcPts val="1080"/>
              </a:lnSpc>
              <a:spcAft>
                <a:spcPts val="810"/>
              </a:spcAft>
              <a:buNone/>
            </a:pPr>
            <a:r>
              <a:rPr lang="en-US" sz="700" b="1" dirty="0">
                <a:solidFill>
                  <a:srgbClr val="1A202C"/>
                </a:solidFill>
                <a:latin typeface="DM Sans" pitchFamily="34" charset="0"/>
                <a:ea typeface="DM Sans" pitchFamily="34" charset="-122"/>
                <a:cs typeface="DM Sans" pitchFamily="34" charset="-120"/>
              </a:rPr>
              <a:t>SOON</a:t>
            </a:r>
            <a:endParaRPr lang="en-US" sz="700" dirty="0"/>
          </a:p>
        </p:txBody>
      </p:sp>
      <p:sp>
        <p:nvSpPr>
          <p:cNvPr id="21" name="Text 19"/>
          <p:cNvSpPr/>
          <p:nvPr/>
        </p:nvSpPr>
        <p:spPr>
          <a:xfrm>
            <a:off x="3614663" y="2616957"/>
            <a:ext cx="1914525" cy="233362"/>
          </a:xfrm>
          <a:prstGeom prst="rect">
            <a:avLst/>
          </a:prstGeom>
          <a:ln/>
        </p:spPr>
        <p:txBody>
          <a:bodyPr wrap="square" lIns="0" tIns="0" rIns="0" bIns="0" rtlCol="0" anchor="t"/>
          <a:lstStyle/>
          <a:p>
            <a:pPr algn="l" indent="0" marL="0">
              <a:lnSpc>
                <a:spcPts val="1836"/>
              </a:lnSpc>
              <a:spcAft>
                <a:spcPts val="607"/>
              </a:spcAft>
              <a:buNone/>
            </a:pPr>
            <a:r>
              <a:rPr lang="en-US" sz="1200" b="1" dirty="0">
                <a:solidFill>
                  <a:srgbClr val="1A202C"/>
                </a:solidFill>
                <a:latin typeface="DM Sans" pitchFamily="34" charset="0"/>
                <a:ea typeface="DM Sans" pitchFamily="34" charset="-122"/>
                <a:cs typeface="DM Sans" pitchFamily="34" charset="-120"/>
              </a:rPr>
              <a:t>Files &amp; teamwork</a:t>
            </a:r>
            <a:endParaRPr lang="en-US" sz="1200" dirty="0"/>
          </a:p>
        </p:txBody>
      </p:sp>
      <p:sp>
        <p:nvSpPr>
          <p:cNvPr id="22" name="Text 20"/>
          <p:cNvSpPr/>
          <p:nvPr/>
        </p:nvSpPr>
        <p:spPr>
          <a:xfrm>
            <a:off x="3614663" y="2927114"/>
            <a:ext cx="1914525" cy="166688"/>
          </a:xfrm>
          <a:prstGeom prst="rect">
            <a:avLst/>
          </a:prstGeom>
          <a:ln/>
        </p:spPr>
        <p:txBody>
          <a:bodyPr wrap="square" lIns="0" tIns="0" rIns="0" bIns="0" rtlCol="0" anchor="t"/>
          <a:lstStyle/>
          <a:p>
            <a:pPr algn="l" indent="0" marL="0">
              <a:lnSpc>
                <a:spcPts val="1310"/>
              </a:lnSpc>
              <a:buNone/>
            </a:pPr>
            <a:r>
              <a:rPr lang="en-US" sz="900" dirty="0">
                <a:solidFill>
                  <a:srgbClr val="4A5568"/>
                </a:solidFill>
                <a:latin typeface="DM Sans" pitchFamily="34" charset="0"/>
                <a:ea typeface="DM Sans" pitchFamily="34" charset="-122"/>
                <a:cs typeface="DM Sans" pitchFamily="34" charset="-120"/>
              </a:rPr>
              <a:t>Drive</a:t>
            </a:r>
            <a:endParaRPr lang="en-US" sz="900" dirty="0"/>
          </a:p>
        </p:txBody>
      </p:sp>
      <p:sp>
        <p:nvSpPr>
          <p:cNvPr id="23" name="Text 21"/>
          <p:cNvSpPr/>
          <p:nvPr/>
        </p:nvSpPr>
        <p:spPr>
          <a:xfrm>
            <a:off x="3614663" y="3144850"/>
            <a:ext cx="1914525" cy="166688"/>
          </a:xfrm>
          <a:prstGeom prst="rect">
            <a:avLst/>
          </a:prstGeom>
          <a:ln/>
        </p:spPr>
        <p:txBody>
          <a:bodyPr wrap="square" lIns="0" tIns="0" rIns="0" bIns="0" rtlCol="0" anchor="t"/>
          <a:lstStyle/>
          <a:p>
            <a:pPr algn="l" indent="0" marL="0">
              <a:lnSpc>
                <a:spcPts val="1310"/>
              </a:lnSpc>
              <a:buNone/>
            </a:pPr>
            <a:r>
              <a:rPr lang="en-US" sz="900" dirty="0">
                <a:solidFill>
                  <a:srgbClr val="4A5568"/>
                </a:solidFill>
                <a:latin typeface="DM Sans" pitchFamily="34" charset="0"/>
                <a:ea typeface="DM Sans" pitchFamily="34" charset="-122"/>
                <a:cs typeface="DM Sans" pitchFamily="34" charset="-120"/>
              </a:rPr>
              <a:t>Dropbox</a:t>
            </a:r>
            <a:endParaRPr lang="en-US" sz="900" dirty="0"/>
          </a:p>
        </p:txBody>
      </p:sp>
      <p:sp>
        <p:nvSpPr>
          <p:cNvPr id="24" name="Text 22"/>
          <p:cNvSpPr/>
          <p:nvPr/>
        </p:nvSpPr>
        <p:spPr>
          <a:xfrm>
            <a:off x="3614663" y="3362585"/>
            <a:ext cx="1914525" cy="166688"/>
          </a:xfrm>
          <a:prstGeom prst="rect">
            <a:avLst/>
          </a:prstGeom>
          <a:ln/>
        </p:spPr>
        <p:txBody>
          <a:bodyPr wrap="square" lIns="0" tIns="0" rIns="0" bIns="0" rtlCol="0" anchor="t"/>
          <a:lstStyle/>
          <a:p>
            <a:pPr algn="l" indent="0" marL="0">
              <a:lnSpc>
                <a:spcPts val="1310"/>
              </a:lnSpc>
              <a:buNone/>
            </a:pPr>
            <a:r>
              <a:rPr lang="en-US" sz="900" dirty="0">
                <a:solidFill>
                  <a:srgbClr val="4A5568"/>
                </a:solidFill>
                <a:latin typeface="DM Sans" pitchFamily="34" charset="0"/>
                <a:ea typeface="DM Sans" pitchFamily="34" charset="-122"/>
                <a:cs typeface="DM Sans" pitchFamily="34" charset="-120"/>
              </a:rPr>
              <a:t>Notion · Slack</a:t>
            </a:r>
            <a:endParaRPr lang="en-US" sz="900" dirty="0"/>
          </a:p>
        </p:txBody>
      </p:sp>
      <p:sp>
        <p:nvSpPr>
          <p:cNvPr id="25" name="Shape 23"/>
          <p:cNvSpPr/>
          <p:nvPr/>
        </p:nvSpPr>
        <p:spPr>
          <a:xfrm>
            <a:off x="5913983" y="2115257"/>
            <a:ext cx="2314575" cy="1952625"/>
          </a:xfrm>
          <a:prstGeom prst="roundRect">
            <a:avLst>
              <a:gd name="adj" fmla="val 3289"/>
            </a:avLst>
          </a:prstGeom>
          <a:solidFill>
            <a:srgbClr val="2D3748"/>
          </a:solidFill>
          <a:ln/>
          <a:effectLst>
            <a:outerShdw sx="100000" sy="100000" kx="0" ky="0" algn="bl" rotWithShape="0" blurRad="182880" dist="91440" dir="5400000">
              <a:srgbClr val="000000">
                <a:alpha val="10000"/>
              </a:srgbClr>
            </a:outerShdw>
          </a:effectLst>
        </p:spPr>
      </p:sp>
      <p:sp>
        <p:nvSpPr>
          <p:cNvPr id="26" name="Text 24"/>
          <p:cNvSpPr/>
          <p:nvPr/>
        </p:nvSpPr>
        <p:spPr>
          <a:xfrm>
            <a:off x="6113041" y="2314835"/>
            <a:ext cx="881063" cy="200025"/>
          </a:xfrm>
          <a:prstGeom prst="roundRect">
            <a:avLst>
              <a:gd name="adj" fmla="val 57143"/>
            </a:avLst>
          </a:prstGeom>
          <a:solidFill>
            <a:srgbClr val="C8B6FF"/>
          </a:solidFill>
          <a:ln/>
        </p:spPr>
        <p:txBody>
          <a:bodyPr wrap="square" lIns="0" tIns="0" rIns="0" bIns="0" rtlCol="0" anchor="ctr"/>
          <a:lstStyle/>
          <a:p>
            <a:pPr algn="l" indent="0" marL="0">
              <a:lnSpc>
                <a:spcPts val="1080"/>
              </a:lnSpc>
              <a:spcAft>
                <a:spcPts val="810"/>
              </a:spcAft>
              <a:buNone/>
            </a:pPr>
            <a:r>
              <a:rPr lang="en-US" sz="700" b="1" dirty="0">
                <a:solidFill>
                  <a:srgbClr val="1A202C"/>
                </a:solidFill>
                <a:latin typeface="DM Sans" pitchFamily="34" charset="0"/>
                <a:ea typeface="DM Sans" pitchFamily="34" charset="-122"/>
                <a:cs typeface="DM Sans" pitchFamily="34" charset="-120"/>
              </a:rPr>
              <a:t>EVENTUALLY</a:t>
            </a:r>
            <a:endParaRPr lang="en-US" sz="700" dirty="0"/>
          </a:p>
        </p:txBody>
      </p:sp>
      <p:sp>
        <p:nvSpPr>
          <p:cNvPr id="27" name="Text 25"/>
          <p:cNvSpPr/>
          <p:nvPr/>
        </p:nvSpPr>
        <p:spPr>
          <a:xfrm>
            <a:off x="6114008" y="2616957"/>
            <a:ext cx="1914525" cy="233362"/>
          </a:xfrm>
          <a:prstGeom prst="rect">
            <a:avLst/>
          </a:prstGeom>
          <a:ln/>
        </p:spPr>
        <p:txBody>
          <a:bodyPr wrap="square" lIns="0" tIns="0" rIns="0" bIns="0" rtlCol="0" anchor="t"/>
          <a:lstStyle/>
          <a:p>
            <a:pPr algn="l" indent="0" marL="0">
              <a:lnSpc>
                <a:spcPts val="1836"/>
              </a:lnSpc>
              <a:spcAft>
                <a:spcPts val="607"/>
              </a:spcAft>
              <a:buNone/>
            </a:pPr>
            <a:r>
              <a:rPr lang="en-US" sz="1200" b="1" dirty="0">
                <a:solidFill>
                  <a:srgbClr val="FFFFFF"/>
                </a:solidFill>
                <a:latin typeface="DM Sans" pitchFamily="34" charset="0"/>
                <a:ea typeface="DM Sans" pitchFamily="34" charset="-122"/>
                <a:cs typeface="DM Sans" pitchFamily="34" charset="-120"/>
              </a:rPr>
              <a:t>Anything logged-in</a:t>
            </a:r>
            <a:endParaRPr lang="en-US" sz="1200" dirty="0"/>
          </a:p>
        </p:txBody>
      </p:sp>
      <p:sp>
        <p:nvSpPr>
          <p:cNvPr id="28" name="Text 26"/>
          <p:cNvSpPr/>
          <p:nvPr/>
        </p:nvSpPr>
        <p:spPr>
          <a:xfrm>
            <a:off x="6114008" y="2927114"/>
            <a:ext cx="1914525" cy="166688"/>
          </a:xfrm>
          <a:prstGeom prst="rect">
            <a:avLst/>
          </a:prstGeom>
          <a:ln/>
        </p:spPr>
        <p:txBody>
          <a:bodyPr wrap="square" lIns="0" tIns="0" rIns="0" bIns="0" rtlCol="0" anchor="t"/>
          <a:lstStyle/>
          <a:p>
            <a:pPr algn="l" indent="0" marL="0">
              <a:lnSpc>
                <a:spcPts val="1310"/>
              </a:lnSpc>
              <a:buNone/>
            </a:pPr>
            <a:r>
              <a:rPr lang="en-US" sz="900" dirty="0">
                <a:solidFill>
                  <a:srgbClr val="AED9E0"/>
                </a:solidFill>
                <a:latin typeface="DM Sans" pitchFamily="34" charset="0"/>
                <a:ea typeface="DM Sans" pitchFamily="34" charset="-122"/>
                <a:cs typeface="DM Sans" pitchFamily="34" charset="-120"/>
              </a:rPr>
              <a:t>Banking dashboards</a:t>
            </a:r>
            <a:endParaRPr lang="en-US" sz="900" dirty="0"/>
          </a:p>
        </p:txBody>
      </p:sp>
      <p:sp>
        <p:nvSpPr>
          <p:cNvPr id="29" name="Text 27"/>
          <p:cNvSpPr/>
          <p:nvPr/>
        </p:nvSpPr>
        <p:spPr>
          <a:xfrm>
            <a:off x="6114008" y="3144850"/>
            <a:ext cx="1914525" cy="166688"/>
          </a:xfrm>
          <a:prstGeom prst="rect">
            <a:avLst/>
          </a:prstGeom>
          <a:ln/>
        </p:spPr>
        <p:txBody>
          <a:bodyPr wrap="square" lIns="0" tIns="0" rIns="0" bIns="0" rtlCol="0" anchor="t"/>
          <a:lstStyle/>
          <a:p>
            <a:pPr algn="l" indent="0" marL="0">
              <a:lnSpc>
                <a:spcPts val="1310"/>
              </a:lnSpc>
              <a:buNone/>
            </a:pPr>
            <a:r>
              <a:rPr lang="en-US" sz="900" dirty="0">
                <a:solidFill>
                  <a:srgbClr val="AED9E0"/>
                </a:solidFill>
                <a:latin typeface="DM Sans" pitchFamily="34" charset="0"/>
                <a:ea typeface="DM Sans" pitchFamily="34" charset="-122"/>
                <a:cs typeface="DM Sans" pitchFamily="34" charset="-120"/>
              </a:rPr>
              <a:t>Health portals</a:t>
            </a:r>
            <a:endParaRPr lang="en-US" sz="900" dirty="0"/>
          </a:p>
        </p:txBody>
      </p:sp>
      <p:sp>
        <p:nvSpPr>
          <p:cNvPr id="30" name="Text 28"/>
          <p:cNvSpPr/>
          <p:nvPr/>
        </p:nvSpPr>
        <p:spPr>
          <a:xfrm>
            <a:off x="6114008" y="3362585"/>
            <a:ext cx="1914525" cy="166688"/>
          </a:xfrm>
          <a:prstGeom prst="rect">
            <a:avLst/>
          </a:prstGeom>
          <a:ln/>
        </p:spPr>
        <p:txBody>
          <a:bodyPr wrap="square" lIns="0" tIns="0" rIns="0" bIns="0" rtlCol="0" anchor="t"/>
          <a:lstStyle/>
          <a:p>
            <a:pPr algn="l" indent="0" marL="0">
              <a:lnSpc>
                <a:spcPts val="1310"/>
              </a:lnSpc>
              <a:buNone/>
            </a:pPr>
            <a:r>
              <a:rPr lang="en-US" sz="900" dirty="0">
                <a:solidFill>
                  <a:srgbClr val="AED9E0"/>
                </a:solidFill>
                <a:latin typeface="DM Sans" pitchFamily="34" charset="0"/>
                <a:ea typeface="DM Sans" pitchFamily="34" charset="-122"/>
                <a:cs typeface="DM Sans" pitchFamily="34" charset="-120"/>
              </a:rPr>
              <a:t>Any OAuth surface</a:t>
            </a:r>
            <a:endParaRPr lang="en-US" sz="900" dirty="0"/>
          </a:p>
        </p:txBody>
      </p:sp>
      <p:sp>
        <p:nvSpPr>
          <p:cNvPr id="31" name="Shape 29"/>
          <p:cNvSpPr/>
          <p:nvPr/>
        </p:nvSpPr>
        <p:spPr>
          <a:xfrm>
            <a:off x="914326" y="4347790"/>
            <a:ext cx="7315200" cy="280987"/>
          </a:xfrm>
          <a:prstGeom prst="rect">
            <a:avLst/>
          </a:prstGeom>
          <a:ln/>
        </p:spPr>
      </p:sp>
      <p:sp>
        <p:nvSpPr>
          <p:cNvPr id="32" name="Text 30"/>
          <p:cNvSpPr/>
          <p:nvPr/>
        </p:nvSpPr>
        <p:spPr>
          <a:xfrm>
            <a:off x="915405" y="4463504"/>
            <a:ext cx="452437" cy="166688"/>
          </a:xfrm>
          <a:prstGeom prst="rect">
            <a:avLst/>
          </a:prstGeom>
          <a:ln/>
        </p:spPr>
        <p:txBody>
          <a:bodyPr wrap="square" lIns="0" tIns="0" rIns="0" bIns="0" rtlCol="0" anchor="t"/>
          <a:lstStyle/>
          <a:p>
            <a:pPr algn="l" indent="0" marL="0">
              <a:lnSpc>
                <a:spcPts val="1296"/>
              </a:lnSpc>
              <a:buNone/>
            </a:pPr>
            <a:r>
              <a:rPr lang="en-US" sz="800" dirty="0">
                <a:solidFill>
                  <a:srgbClr val="718096"/>
                </a:solidFill>
                <a:latin typeface="DM Sans" pitchFamily="34" charset="0"/>
                <a:ea typeface="DM Sans" pitchFamily="34" charset="-122"/>
                <a:cs typeface="DM Sans" pitchFamily="34" charset="-120"/>
              </a:rPr>
              <a:t>fade.app</a:t>
            </a:r>
            <a:endParaRPr lang="en-US" sz="800" dirty="0"/>
          </a:p>
        </p:txBody>
      </p:sp>
      <p:sp>
        <p:nvSpPr>
          <p:cNvPr id="33" name="Text 31"/>
          <p:cNvSpPr/>
          <p:nvPr/>
        </p:nvSpPr>
        <p:spPr>
          <a:xfrm>
            <a:off x="8082297" y="4463504"/>
            <a:ext cx="147637" cy="166688"/>
          </a:xfrm>
          <a:prstGeom prst="rect">
            <a:avLst/>
          </a:prstGeom>
          <a:ln/>
        </p:spPr>
        <p:txBody>
          <a:bodyPr wrap="square" lIns="0" tIns="0" rIns="0" bIns="0" rtlCol="0" anchor="t"/>
          <a:lstStyle/>
          <a:p>
            <a:pPr algn="l" indent="0" marL="0">
              <a:lnSpc>
                <a:spcPts val="1296"/>
              </a:lnSpc>
              <a:buNone/>
            </a:pPr>
            <a:r>
              <a:rPr lang="en-US" sz="800" b="1" dirty="0">
                <a:solidFill>
                  <a:srgbClr val="2D3748"/>
                </a:solidFill>
                <a:latin typeface="DM Sans" pitchFamily="34" charset="0"/>
                <a:ea typeface="DM Sans" pitchFamily="34" charset="-122"/>
                <a:cs typeface="DM Sans" pitchFamily="34" charset="-120"/>
              </a:rPr>
              <a:t>06</a:t>
            </a:r>
            <a:endParaRPr lang="en-US" sz="800" dirty="0"/>
          </a:p>
        </p:txBody>
      </p:sp>
      <p:pic>
        <p:nvPicPr>
          <p:cNvPr id="3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326" y="4347790"/>
            <a:ext cx="7315200" cy="2809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5486400" y="-771525"/>
            <a:ext cx="4114800" cy="4114800"/>
          </a:xfrm>
          <a:prstGeom prst="ellipse">
            <a:avLst/>
          </a:prstGeom>
          <a:solidFill>
            <a:srgbClr val="F4E8C1"/>
          </a:solidFill>
          <a:ln/>
        </p:spPr>
      </p:sp>
      <p:sp>
        <p:nvSpPr>
          <p:cNvPr id="4" name="Shape 2"/>
          <p:cNvSpPr/>
          <p:nvPr/>
        </p:nvSpPr>
        <p:spPr>
          <a:xfrm>
            <a:off x="-914400" y="2457450"/>
            <a:ext cx="3200400" cy="3200400"/>
          </a:xfrm>
          <a:prstGeom prst="ellipse">
            <a:avLst/>
          </a:prstGeom>
          <a:solidFill>
            <a:srgbClr val="AED9E0"/>
          </a:solidFill>
          <a:ln/>
        </p:spPr>
      </p:sp>
      <p:sp>
        <p:nvSpPr>
          <p:cNvPr id="5" name="Shape 3"/>
          <p:cNvSpPr/>
          <p:nvPr/>
        </p:nvSpPr>
        <p:spPr>
          <a:xfrm>
            <a:off x="5029200" y="514350"/>
            <a:ext cx="914400" cy="914400"/>
          </a:xfrm>
          <a:prstGeom prst="ellipse">
            <a:avLst/>
          </a:prstGeom>
          <a:solidFill>
            <a:srgbClr val="C8B6FF"/>
          </a:solidFill>
          <a:ln/>
        </p:spPr>
      </p:sp>
      <p:sp>
        <p:nvSpPr>
          <p:cNvPr id="6" name="Shape 4"/>
          <p:cNvSpPr/>
          <p:nvPr/>
        </p:nvSpPr>
        <p:spPr>
          <a:xfrm>
            <a:off x="547613" y="309525"/>
            <a:ext cx="8048625" cy="4524375"/>
          </a:xfrm>
          <a:prstGeom prst="roundRect">
            <a:avLst>
              <a:gd name="adj" fmla="val 817"/>
            </a:avLst>
          </a:prstGeom>
          <a:solidFill>
            <a:srgbClr val="FFFFFF">
              <a:alpha val="55000"/>
            </a:srgbClr>
          </a:solidFill>
          <a:ln/>
        </p:spPr>
      </p:sp>
      <p:sp>
        <p:nvSpPr>
          <p:cNvPr id="7" name="Text 5"/>
          <p:cNvSpPr/>
          <p:nvPr/>
        </p:nvSpPr>
        <p:spPr>
          <a:xfrm>
            <a:off x="913358" y="513308"/>
            <a:ext cx="276225" cy="276225"/>
          </a:xfrm>
          <a:prstGeom prst="roundRect">
            <a:avLst>
              <a:gd name="adj" fmla="val 21917"/>
            </a:avLst>
          </a:prstGeom>
          <a:solidFill>
            <a:srgbClr val="2D3748"/>
          </a:solidFill>
          <a:ln/>
        </p:spPr>
        <p:txBody>
          <a:bodyPr wrap="square" lIns="0" tIns="0" rIns="0" bIns="0" rtlCol="0" anchor="ctr"/>
          <a:lstStyle/>
          <a:p>
            <a:pPr algn="ctr" indent="0" marL="0">
              <a:lnSpc>
                <a:spcPts val="1620"/>
              </a:lnSpc>
              <a:buNone/>
            </a:pPr>
            <a:r>
              <a:rPr lang="en-US" sz="1000" b="1" dirty="0">
                <a:solidFill>
                  <a:srgbClr val="FFFFFF"/>
                </a:solidFill>
                <a:latin typeface="DM Sans" pitchFamily="34" charset="0"/>
                <a:ea typeface="DM Sans" pitchFamily="34" charset="-122"/>
                <a:cs typeface="DM Sans" pitchFamily="34" charset="-120"/>
              </a:rPr>
              <a:t>F</a:t>
            </a:r>
            <a:endParaRPr lang="en-US" sz="1000" dirty="0"/>
          </a:p>
        </p:txBody>
      </p:sp>
      <p:sp>
        <p:nvSpPr>
          <p:cNvPr id="8" name="Text 6"/>
          <p:cNvSpPr/>
          <p:nvPr/>
        </p:nvSpPr>
        <p:spPr>
          <a:xfrm>
            <a:off x="1279959" y="549027"/>
            <a:ext cx="595313" cy="204787"/>
          </a:xfrm>
          <a:prstGeom prst="rect">
            <a:avLst/>
          </a:prstGeom>
          <a:ln/>
        </p:spPr>
        <p:txBody>
          <a:bodyPr wrap="square" lIns="0" tIns="0" rIns="0" bIns="0" rtlCol="0" anchor="t"/>
          <a:lstStyle/>
          <a:p>
            <a:pPr algn="l" indent="0" marL="0">
              <a:lnSpc>
                <a:spcPts val="1620"/>
              </a:lnSpc>
              <a:buNone/>
            </a:pPr>
            <a:r>
              <a:rPr lang="en-US" sz="1000" b="1" dirty="0">
                <a:solidFill>
                  <a:srgbClr val="2D3748"/>
                </a:solidFill>
                <a:latin typeface="DM Sans" pitchFamily="34" charset="0"/>
                <a:ea typeface="DM Sans" pitchFamily="34" charset="-122"/>
                <a:cs typeface="DM Sans" pitchFamily="34" charset="-120"/>
              </a:rPr>
              <a:t>fade.app</a:t>
            </a:r>
            <a:endParaRPr lang="en-US" sz="1000" dirty="0"/>
          </a:p>
        </p:txBody>
      </p:sp>
      <p:sp>
        <p:nvSpPr>
          <p:cNvPr id="9" name="Text 7"/>
          <p:cNvSpPr/>
          <p:nvPr/>
        </p:nvSpPr>
        <p:spPr>
          <a:xfrm>
            <a:off x="7528806" y="541846"/>
            <a:ext cx="700088" cy="219075"/>
          </a:xfrm>
          <a:prstGeom prst="roundRect">
            <a:avLst>
              <a:gd name="adj" fmla="val 52174"/>
            </a:avLst>
          </a:prstGeom>
          <a:solidFill>
            <a:srgbClr val="AED9E0"/>
          </a:solidFill>
          <a:ln/>
        </p:spPr>
        <p:txBody>
          <a:bodyPr wrap="square" lIns="0" tIns="0" rIns="0" bIns="0" rtlCol="0" anchor="ctr"/>
          <a:lstStyle/>
          <a:p>
            <a:pPr algn="l" indent="0" marL="0">
              <a:lnSpc>
                <a:spcPts val="1080"/>
              </a:lnSpc>
              <a:buNone/>
            </a:pPr>
            <a:r>
              <a:rPr lang="en-US" sz="700" b="1" dirty="0">
                <a:solidFill>
                  <a:srgbClr val="2D3748"/>
                </a:solidFill>
                <a:latin typeface="DM Sans" pitchFamily="34" charset="0"/>
                <a:ea typeface="DM Sans" pitchFamily="34" charset="-122"/>
                <a:cs typeface="DM Sans" pitchFamily="34" charset="-120"/>
              </a:rPr>
              <a:t>Audience</a:t>
            </a:r>
            <a:endParaRPr lang="en-US" sz="700" dirty="0"/>
          </a:p>
        </p:txBody>
      </p:sp>
      <p:sp>
        <p:nvSpPr>
          <p:cNvPr id="10" name="Text 8"/>
          <p:cNvSpPr/>
          <p:nvPr/>
        </p:nvSpPr>
        <p:spPr>
          <a:xfrm>
            <a:off x="914326" y="942119"/>
            <a:ext cx="7315200" cy="423862"/>
          </a:xfrm>
          <a:prstGeom prst="rect">
            <a:avLst/>
          </a:prstGeom>
          <a:ln/>
        </p:spPr>
        <p:txBody>
          <a:bodyPr wrap="square" lIns="0" tIns="0" rIns="0" bIns="0" rtlCol="0" anchor="t"/>
          <a:lstStyle/>
          <a:p>
            <a:pPr algn="l" indent="0" marL="0">
              <a:lnSpc>
                <a:spcPts val="3326"/>
              </a:lnSpc>
              <a:spcAft>
                <a:spcPts val="607"/>
              </a:spcAft>
              <a:buNone/>
            </a:pPr>
            <a:r>
              <a:rPr lang="en-US" sz="3000" b="1" dirty="0">
                <a:solidFill>
                  <a:srgbClr val="1A202C"/>
                </a:solidFill>
                <a:latin typeface="DM Sans" pitchFamily="34" charset="0"/>
                <a:ea typeface="DM Sans" pitchFamily="34" charset="-122"/>
                <a:cs typeface="DM Sans" pitchFamily="34" charset="-120"/>
              </a:rPr>
              <a:t>Why it matters.</a:t>
            </a:r>
            <a:endParaRPr lang="en-US" sz="3000" dirty="0"/>
          </a:p>
        </p:txBody>
      </p:sp>
      <p:sp>
        <p:nvSpPr>
          <p:cNvPr id="11" name="Text 9"/>
          <p:cNvSpPr/>
          <p:nvPr/>
        </p:nvSpPr>
        <p:spPr>
          <a:xfrm>
            <a:off x="914326" y="1442740"/>
            <a:ext cx="5486400" cy="438150"/>
          </a:xfrm>
          <a:prstGeom prst="rect">
            <a:avLst/>
          </a:prstGeom>
          <a:ln/>
        </p:spPr>
        <p:txBody>
          <a:bodyPr wrap="square" lIns="0" tIns="0" rIns="0" bIns="0" rtlCol="0" anchor="t"/>
          <a:lstStyle/>
          <a:p>
            <a:pPr algn="l" indent="0" marL="0">
              <a:lnSpc>
                <a:spcPts val="1728"/>
              </a:lnSpc>
              <a:spcAft>
                <a:spcPts val="1418"/>
              </a:spcAft>
              <a:buNone/>
            </a:pPr>
            <a:r>
              <a:rPr lang="en-US" sz="1100" dirty="0">
                <a:solidFill>
                  <a:srgbClr val="4A5568"/>
                </a:solidFill>
                <a:latin typeface="DM Sans" pitchFamily="34" charset="0"/>
                <a:ea typeface="DM Sans" pitchFamily="34" charset="-122"/>
                <a:cs typeface="DM Sans" pitchFamily="34" charset="-120"/>
              </a:rPr>
              <a:t>Anyone who's borrowed someone else's screen — and worried about what they left behind.</a:t>
            </a:r>
            <a:endParaRPr lang="en-US" sz="1100" dirty="0"/>
          </a:p>
        </p:txBody>
      </p:sp>
      <p:sp>
        <p:nvSpPr>
          <p:cNvPr id="12" name="Shape 10"/>
          <p:cNvSpPr/>
          <p:nvPr/>
        </p:nvSpPr>
        <p:spPr>
          <a:xfrm>
            <a:off x="913656" y="2060600"/>
            <a:ext cx="3576637" cy="947737"/>
          </a:xfrm>
          <a:prstGeom prst="roundRect">
            <a:avLst>
              <a:gd name="adj" fmla="val 13963"/>
            </a:avLst>
          </a:prstGeom>
          <a:solidFill>
            <a:srgbClr val="FFFFFF"/>
          </a:solidFill>
          <a:ln/>
          <a:effectLst>
            <a:outerShdw sx="100000" sy="100000" kx="0" ky="0" algn="bl" rotWithShape="0" blurRad="182880" dist="91440" dir="5400000">
              <a:srgbClr val="000000">
                <a:alpha val="5000"/>
              </a:srgbClr>
            </a:outerShdw>
          </a:effectLst>
        </p:spPr>
      </p:sp>
      <p:sp>
        <p:nvSpPr>
          <p:cNvPr id="13" name="Shape 11"/>
          <p:cNvSpPr/>
          <p:nvPr/>
        </p:nvSpPr>
        <p:spPr>
          <a:xfrm>
            <a:off x="1097161" y="2305869"/>
            <a:ext cx="457200" cy="457200"/>
          </a:xfrm>
          <a:prstGeom prst="roundRect">
            <a:avLst>
              <a:gd name="adj" fmla="val 12000"/>
            </a:avLst>
          </a:prstGeom>
          <a:solidFill>
            <a:srgbClr val="FFBCA6"/>
          </a:solidFill>
          <a:ln/>
        </p:spPr>
      </p:sp>
      <p:sp>
        <p:nvSpPr>
          <p:cNvPr id="14" name="Text 12"/>
          <p:cNvSpPr/>
          <p:nvPr/>
        </p:nvSpPr>
        <p:spPr>
          <a:xfrm>
            <a:off x="1719821" y="2255825"/>
            <a:ext cx="2586038" cy="219075"/>
          </a:xfrm>
          <a:prstGeom prst="rect">
            <a:avLst/>
          </a:prstGeom>
          <a:ln/>
        </p:spPr>
        <p:txBody>
          <a:bodyPr wrap="square" lIns="0" tIns="0" rIns="0" bIns="0" rtlCol="0" anchor="t"/>
          <a:lstStyle/>
          <a:p>
            <a:pPr algn="l" indent="0" marL="0">
              <a:lnSpc>
                <a:spcPts val="1728"/>
              </a:lnSpc>
              <a:spcAft>
                <a:spcPts val="243"/>
              </a:spcAft>
              <a:buNone/>
            </a:pPr>
            <a:r>
              <a:rPr lang="en-US" sz="1100" b="1" dirty="0">
                <a:solidFill>
                  <a:srgbClr val="1A202C"/>
                </a:solidFill>
                <a:latin typeface="DM Sans" pitchFamily="34" charset="0"/>
                <a:ea typeface="DM Sans" pitchFamily="34" charset="-122"/>
                <a:cs typeface="DM Sans" pitchFamily="34" charset="-120"/>
              </a:rPr>
              <a:t>Travelers</a:t>
            </a:r>
            <a:endParaRPr lang="en-US" sz="1100" dirty="0"/>
          </a:p>
        </p:txBody>
      </p:sp>
      <p:sp>
        <p:nvSpPr>
          <p:cNvPr id="15" name="Text 13"/>
          <p:cNvSpPr/>
          <p:nvPr/>
        </p:nvSpPr>
        <p:spPr>
          <a:xfrm>
            <a:off x="1719821" y="2504777"/>
            <a:ext cx="2586038" cy="309562"/>
          </a:xfrm>
          <a:prstGeom prst="rect">
            <a:avLst/>
          </a:prstGeom>
          <a:ln/>
        </p:spPr>
        <p:txBody>
          <a:bodyPr wrap="square" lIns="0" tIns="0" rIns="0" bIns="0" rtlCol="0" anchor="t"/>
          <a:lstStyle/>
          <a:p>
            <a:pPr algn="l" indent="0" marL="0">
              <a:lnSpc>
                <a:spcPts val="1210"/>
              </a:lnSpc>
              <a:buNone/>
            </a:pPr>
            <a:r>
              <a:rPr lang="en-US" sz="800" dirty="0">
                <a:solidFill>
                  <a:srgbClr val="718096"/>
                </a:solidFill>
                <a:latin typeface="DM Sans" pitchFamily="34" charset="0"/>
                <a:ea typeface="DM Sans" pitchFamily="34" charset="-122"/>
                <a:cs typeface="DM Sans" pitchFamily="34" charset="-120"/>
              </a:rPr>
              <a:t>Hotel business centers, airport lounges, cybercafes abroad.</a:t>
            </a:r>
            <a:endParaRPr lang="en-US" sz="800" dirty="0"/>
          </a:p>
        </p:txBody>
      </p:sp>
      <p:sp>
        <p:nvSpPr>
          <p:cNvPr id="16" name="Shape 14"/>
          <p:cNvSpPr/>
          <p:nvPr/>
        </p:nvSpPr>
        <p:spPr>
          <a:xfrm>
            <a:off x="4653521" y="2060600"/>
            <a:ext cx="3576637" cy="947737"/>
          </a:xfrm>
          <a:prstGeom prst="roundRect">
            <a:avLst>
              <a:gd name="adj" fmla="val 13963"/>
            </a:avLst>
          </a:prstGeom>
          <a:solidFill>
            <a:srgbClr val="FFFFFF"/>
          </a:solidFill>
          <a:ln/>
          <a:effectLst>
            <a:outerShdw sx="100000" sy="100000" kx="0" ky="0" algn="bl" rotWithShape="0" blurRad="182880" dist="91440" dir="5400000">
              <a:srgbClr val="000000">
                <a:alpha val="5000"/>
              </a:srgbClr>
            </a:outerShdw>
          </a:effectLst>
        </p:spPr>
      </p:sp>
      <p:sp>
        <p:nvSpPr>
          <p:cNvPr id="17" name="Shape 15"/>
          <p:cNvSpPr/>
          <p:nvPr/>
        </p:nvSpPr>
        <p:spPr>
          <a:xfrm>
            <a:off x="4836988" y="2305869"/>
            <a:ext cx="457200" cy="457200"/>
          </a:xfrm>
          <a:prstGeom prst="roundRect">
            <a:avLst>
              <a:gd name="adj" fmla="val 12000"/>
            </a:avLst>
          </a:prstGeom>
          <a:solidFill>
            <a:srgbClr val="AED9E0"/>
          </a:solidFill>
          <a:ln/>
        </p:spPr>
      </p:sp>
      <p:sp>
        <p:nvSpPr>
          <p:cNvPr id="18" name="Text 16"/>
          <p:cNvSpPr/>
          <p:nvPr/>
        </p:nvSpPr>
        <p:spPr>
          <a:xfrm>
            <a:off x="5459685" y="2255825"/>
            <a:ext cx="2586038" cy="219075"/>
          </a:xfrm>
          <a:prstGeom prst="rect">
            <a:avLst/>
          </a:prstGeom>
          <a:ln/>
        </p:spPr>
        <p:txBody>
          <a:bodyPr wrap="square" lIns="0" tIns="0" rIns="0" bIns="0" rtlCol="0" anchor="t"/>
          <a:lstStyle/>
          <a:p>
            <a:pPr algn="l" indent="0" marL="0">
              <a:lnSpc>
                <a:spcPts val="1728"/>
              </a:lnSpc>
              <a:spcAft>
                <a:spcPts val="243"/>
              </a:spcAft>
              <a:buNone/>
            </a:pPr>
            <a:r>
              <a:rPr lang="en-US" sz="1100" b="1" dirty="0">
                <a:solidFill>
                  <a:srgbClr val="1A202C"/>
                </a:solidFill>
                <a:latin typeface="DM Sans" pitchFamily="34" charset="0"/>
                <a:ea typeface="DM Sans" pitchFamily="34" charset="-122"/>
                <a:cs typeface="DM Sans" pitchFamily="34" charset="-120"/>
              </a:rPr>
              <a:t>Students</a:t>
            </a:r>
            <a:endParaRPr lang="en-US" sz="1100" dirty="0"/>
          </a:p>
        </p:txBody>
      </p:sp>
      <p:sp>
        <p:nvSpPr>
          <p:cNvPr id="19" name="Text 17"/>
          <p:cNvSpPr/>
          <p:nvPr/>
        </p:nvSpPr>
        <p:spPr>
          <a:xfrm>
            <a:off x="5459685" y="2504777"/>
            <a:ext cx="2586038" cy="309562"/>
          </a:xfrm>
          <a:prstGeom prst="rect">
            <a:avLst/>
          </a:prstGeom>
          <a:ln/>
        </p:spPr>
        <p:txBody>
          <a:bodyPr wrap="square" lIns="0" tIns="0" rIns="0" bIns="0" rtlCol="0" anchor="t"/>
          <a:lstStyle/>
          <a:p>
            <a:pPr algn="l" indent="0" marL="0">
              <a:lnSpc>
                <a:spcPts val="1210"/>
              </a:lnSpc>
              <a:buNone/>
            </a:pPr>
            <a:r>
              <a:rPr lang="en-US" sz="800" dirty="0">
                <a:solidFill>
                  <a:srgbClr val="718096"/>
                </a:solidFill>
                <a:latin typeface="DM Sans" pitchFamily="34" charset="0"/>
                <a:ea typeface="DM Sans" pitchFamily="34" charset="-122"/>
                <a:cs typeface="DM Sans" pitchFamily="34" charset="-120"/>
              </a:rPr>
              <a:t>University labs, library terminals, shared classroom PCs.</a:t>
            </a:r>
            <a:endParaRPr lang="en-US" sz="800" dirty="0"/>
          </a:p>
        </p:txBody>
      </p:sp>
      <p:sp>
        <p:nvSpPr>
          <p:cNvPr id="20" name="Shape 18"/>
          <p:cNvSpPr/>
          <p:nvPr/>
        </p:nvSpPr>
        <p:spPr>
          <a:xfrm>
            <a:off x="913656" y="3171565"/>
            <a:ext cx="3576637" cy="947737"/>
          </a:xfrm>
          <a:prstGeom prst="roundRect">
            <a:avLst>
              <a:gd name="adj" fmla="val 13963"/>
            </a:avLst>
          </a:prstGeom>
          <a:solidFill>
            <a:srgbClr val="FFFFFF"/>
          </a:solidFill>
          <a:ln/>
          <a:effectLst>
            <a:outerShdw sx="100000" sy="100000" kx="0" ky="0" algn="bl" rotWithShape="0" blurRad="182880" dist="91440" dir="5400000">
              <a:srgbClr val="000000">
                <a:alpha val="5000"/>
              </a:srgbClr>
            </a:outerShdw>
          </a:effectLst>
        </p:spPr>
      </p:sp>
      <p:sp>
        <p:nvSpPr>
          <p:cNvPr id="21" name="Shape 19"/>
          <p:cNvSpPr/>
          <p:nvPr/>
        </p:nvSpPr>
        <p:spPr>
          <a:xfrm>
            <a:off x="1097161" y="3416796"/>
            <a:ext cx="457200" cy="457200"/>
          </a:xfrm>
          <a:prstGeom prst="roundRect">
            <a:avLst>
              <a:gd name="adj" fmla="val 12000"/>
            </a:avLst>
          </a:prstGeom>
          <a:solidFill>
            <a:srgbClr val="C8B6FF"/>
          </a:solidFill>
          <a:ln/>
        </p:spPr>
      </p:sp>
      <p:sp>
        <p:nvSpPr>
          <p:cNvPr id="22" name="Text 20"/>
          <p:cNvSpPr/>
          <p:nvPr/>
        </p:nvSpPr>
        <p:spPr>
          <a:xfrm>
            <a:off x="1719821" y="3366827"/>
            <a:ext cx="2586038" cy="219075"/>
          </a:xfrm>
          <a:prstGeom prst="rect">
            <a:avLst/>
          </a:prstGeom>
          <a:ln/>
        </p:spPr>
        <p:txBody>
          <a:bodyPr wrap="square" lIns="0" tIns="0" rIns="0" bIns="0" rtlCol="0" anchor="t"/>
          <a:lstStyle/>
          <a:p>
            <a:pPr algn="l" indent="0" marL="0">
              <a:lnSpc>
                <a:spcPts val="1728"/>
              </a:lnSpc>
              <a:spcAft>
                <a:spcPts val="243"/>
              </a:spcAft>
              <a:buNone/>
            </a:pPr>
            <a:r>
              <a:rPr lang="en-US" sz="1100" b="1" dirty="0">
                <a:solidFill>
                  <a:srgbClr val="1A202C"/>
                </a:solidFill>
                <a:latin typeface="DM Sans" pitchFamily="34" charset="0"/>
                <a:ea typeface="DM Sans" pitchFamily="34" charset="-122"/>
                <a:cs typeface="DM Sans" pitchFamily="34" charset="-120"/>
              </a:rPr>
              <a:t>Shift workers</a:t>
            </a:r>
            <a:endParaRPr lang="en-US" sz="1100" dirty="0"/>
          </a:p>
        </p:txBody>
      </p:sp>
      <p:sp>
        <p:nvSpPr>
          <p:cNvPr id="23" name="Text 21"/>
          <p:cNvSpPr/>
          <p:nvPr/>
        </p:nvSpPr>
        <p:spPr>
          <a:xfrm>
            <a:off x="1719821" y="3615779"/>
            <a:ext cx="2586038" cy="309562"/>
          </a:xfrm>
          <a:prstGeom prst="rect">
            <a:avLst/>
          </a:prstGeom>
          <a:ln/>
        </p:spPr>
        <p:txBody>
          <a:bodyPr wrap="square" lIns="0" tIns="0" rIns="0" bIns="0" rtlCol="0" anchor="t"/>
          <a:lstStyle/>
          <a:p>
            <a:pPr algn="l" indent="0" marL="0">
              <a:lnSpc>
                <a:spcPts val="1210"/>
              </a:lnSpc>
              <a:buNone/>
            </a:pPr>
            <a:r>
              <a:rPr lang="en-US" sz="800" dirty="0">
                <a:solidFill>
                  <a:srgbClr val="718096"/>
                </a:solidFill>
                <a:latin typeface="DM Sans" pitchFamily="34" charset="0"/>
                <a:ea typeface="DM Sans" pitchFamily="34" charset="-122"/>
                <a:cs typeface="DM Sans" pitchFamily="34" charset="-120"/>
              </a:rPr>
              <a:t>Hot-desks, factory kiosks, retail back-office machines.</a:t>
            </a:r>
            <a:endParaRPr lang="en-US" sz="800" dirty="0"/>
          </a:p>
        </p:txBody>
      </p:sp>
      <p:sp>
        <p:nvSpPr>
          <p:cNvPr id="24" name="Shape 22"/>
          <p:cNvSpPr/>
          <p:nvPr/>
        </p:nvSpPr>
        <p:spPr>
          <a:xfrm>
            <a:off x="4653521" y="3171565"/>
            <a:ext cx="3576637" cy="947737"/>
          </a:xfrm>
          <a:prstGeom prst="roundRect">
            <a:avLst>
              <a:gd name="adj" fmla="val 13963"/>
            </a:avLst>
          </a:prstGeom>
          <a:solidFill>
            <a:srgbClr val="FFFFFF"/>
          </a:solidFill>
          <a:ln/>
          <a:effectLst>
            <a:outerShdw sx="100000" sy="100000" kx="0" ky="0" algn="bl" rotWithShape="0" blurRad="182880" dist="91440" dir="5400000">
              <a:srgbClr val="000000">
                <a:alpha val="5000"/>
              </a:srgbClr>
            </a:outerShdw>
          </a:effectLst>
        </p:spPr>
      </p:sp>
      <p:sp>
        <p:nvSpPr>
          <p:cNvPr id="25" name="Shape 23"/>
          <p:cNvSpPr/>
          <p:nvPr/>
        </p:nvSpPr>
        <p:spPr>
          <a:xfrm>
            <a:off x="4836988" y="3416796"/>
            <a:ext cx="457200" cy="457200"/>
          </a:xfrm>
          <a:prstGeom prst="roundRect">
            <a:avLst>
              <a:gd name="adj" fmla="val 12000"/>
            </a:avLst>
          </a:prstGeom>
          <a:solidFill>
            <a:srgbClr val="F4E8C1"/>
          </a:solidFill>
          <a:ln/>
        </p:spPr>
      </p:sp>
      <p:sp>
        <p:nvSpPr>
          <p:cNvPr id="26" name="Text 24"/>
          <p:cNvSpPr/>
          <p:nvPr/>
        </p:nvSpPr>
        <p:spPr>
          <a:xfrm>
            <a:off x="5459685" y="3366827"/>
            <a:ext cx="2586038" cy="219075"/>
          </a:xfrm>
          <a:prstGeom prst="rect">
            <a:avLst/>
          </a:prstGeom>
          <a:ln/>
        </p:spPr>
        <p:txBody>
          <a:bodyPr wrap="square" lIns="0" tIns="0" rIns="0" bIns="0" rtlCol="0" anchor="t"/>
          <a:lstStyle/>
          <a:p>
            <a:pPr algn="l" indent="0" marL="0">
              <a:lnSpc>
                <a:spcPts val="1728"/>
              </a:lnSpc>
              <a:spcAft>
                <a:spcPts val="243"/>
              </a:spcAft>
              <a:buNone/>
            </a:pPr>
            <a:r>
              <a:rPr lang="en-US" sz="1100" b="1" dirty="0">
                <a:solidFill>
                  <a:srgbClr val="1A202C"/>
                </a:solidFill>
                <a:latin typeface="DM Sans" pitchFamily="34" charset="0"/>
                <a:ea typeface="DM Sans" pitchFamily="34" charset="-122"/>
                <a:cs typeface="DM Sans" pitchFamily="34" charset="-120"/>
              </a:rPr>
              <a:t>Anyone, occasionally</a:t>
            </a:r>
            <a:endParaRPr lang="en-US" sz="1100" dirty="0"/>
          </a:p>
        </p:txBody>
      </p:sp>
      <p:sp>
        <p:nvSpPr>
          <p:cNvPr id="27" name="Text 25"/>
          <p:cNvSpPr/>
          <p:nvPr/>
        </p:nvSpPr>
        <p:spPr>
          <a:xfrm>
            <a:off x="5459685" y="3615779"/>
            <a:ext cx="2586038" cy="309562"/>
          </a:xfrm>
          <a:prstGeom prst="rect">
            <a:avLst/>
          </a:prstGeom>
          <a:ln/>
        </p:spPr>
        <p:txBody>
          <a:bodyPr wrap="square" lIns="0" tIns="0" rIns="0" bIns="0" rtlCol="0" anchor="t"/>
          <a:lstStyle/>
          <a:p>
            <a:pPr algn="l" indent="0" marL="0">
              <a:lnSpc>
                <a:spcPts val="1210"/>
              </a:lnSpc>
              <a:buNone/>
            </a:pPr>
            <a:r>
              <a:rPr lang="en-US" sz="800" dirty="0">
                <a:solidFill>
                  <a:srgbClr val="718096"/>
                </a:solidFill>
                <a:latin typeface="DM Sans" pitchFamily="34" charset="0"/>
                <a:ea typeface="DM Sans" pitchFamily="34" charset="-122"/>
                <a:cs typeface="DM Sans" pitchFamily="34" charset="-120"/>
              </a:rPr>
              <a:t>Anyone who's ever forgotten to log out of a borrowed screen.</a:t>
            </a:r>
            <a:endParaRPr lang="en-US" sz="800" dirty="0"/>
          </a:p>
        </p:txBody>
      </p:sp>
      <p:sp>
        <p:nvSpPr>
          <p:cNvPr id="28" name="Shape 26"/>
          <p:cNvSpPr/>
          <p:nvPr/>
        </p:nvSpPr>
        <p:spPr>
          <a:xfrm>
            <a:off x="914326" y="4347790"/>
            <a:ext cx="7315200" cy="280987"/>
          </a:xfrm>
          <a:prstGeom prst="rect">
            <a:avLst/>
          </a:prstGeom>
          <a:ln/>
        </p:spPr>
      </p:sp>
      <p:sp>
        <p:nvSpPr>
          <p:cNvPr id="29" name="Text 27"/>
          <p:cNvSpPr/>
          <p:nvPr/>
        </p:nvSpPr>
        <p:spPr>
          <a:xfrm>
            <a:off x="915405" y="4463504"/>
            <a:ext cx="452437" cy="166688"/>
          </a:xfrm>
          <a:prstGeom prst="rect">
            <a:avLst/>
          </a:prstGeom>
          <a:ln/>
        </p:spPr>
        <p:txBody>
          <a:bodyPr wrap="square" lIns="0" tIns="0" rIns="0" bIns="0" rtlCol="0" anchor="t"/>
          <a:lstStyle/>
          <a:p>
            <a:pPr algn="l" indent="0" marL="0">
              <a:lnSpc>
                <a:spcPts val="1296"/>
              </a:lnSpc>
              <a:buNone/>
            </a:pPr>
            <a:r>
              <a:rPr lang="en-US" sz="800" dirty="0">
                <a:solidFill>
                  <a:srgbClr val="718096"/>
                </a:solidFill>
                <a:latin typeface="DM Sans" pitchFamily="34" charset="0"/>
                <a:ea typeface="DM Sans" pitchFamily="34" charset="-122"/>
                <a:cs typeface="DM Sans" pitchFamily="34" charset="-120"/>
              </a:rPr>
              <a:t>fade.app</a:t>
            </a:r>
            <a:endParaRPr lang="en-US" sz="800" dirty="0"/>
          </a:p>
        </p:txBody>
      </p:sp>
      <p:sp>
        <p:nvSpPr>
          <p:cNvPr id="30" name="Text 28"/>
          <p:cNvSpPr/>
          <p:nvPr/>
        </p:nvSpPr>
        <p:spPr>
          <a:xfrm>
            <a:off x="8095134" y="4463504"/>
            <a:ext cx="133350" cy="166688"/>
          </a:xfrm>
          <a:prstGeom prst="rect">
            <a:avLst/>
          </a:prstGeom>
          <a:ln/>
        </p:spPr>
        <p:txBody>
          <a:bodyPr wrap="square" lIns="0" tIns="0" rIns="0" bIns="0" rtlCol="0" anchor="t"/>
          <a:lstStyle/>
          <a:p>
            <a:pPr algn="l" indent="0" marL="0">
              <a:lnSpc>
                <a:spcPts val="1296"/>
              </a:lnSpc>
              <a:buNone/>
            </a:pPr>
            <a:r>
              <a:rPr lang="en-US" sz="800" b="1" dirty="0">
                <a:solidFill>
                  <a:srgbClr val="2D3748"/>
                </a:solidFill>
                <a:latin typeface="DM Sans" pitchFamily="34" charset="0"/>
                <a:ea typeface="DM Sans" pitchFamily="34" charset="-122"/>
                <a:cs typeface="DM Sans" pitchFamily="34" charset="-120"/>
              </a:rPr>
              <a:t>07</a:t>
            </a:r>
            <a:endParaRPr lang="en-US" sz="800" dirty="0"/>
          </a:p>
        </p:txBody>
      </p:sp>
      <p:pic>
        <p:nvPicPr>
          <p:cNvPr id="3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326" y="4347790"/>
            <a:ext cx="7315200" cy="2809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5486400" y="-771525"/>
            <a:ext cx="4114800" cy="4114800"/>
          </a:xfrm>
          <a:prstGeom prst="ellipse">
            <a:avLst/>
          </a:prstGeom>
          <a:solidFill>
            <a:srgbClr val="F4E8C1"/>
          </a:solidFill>
          <a:ln/>
        </p:spPr>
      </p:sp>
      <p:sp>
        <p:nvSpPr>
          <p:cNvPr id="4" name="Shape 2"/>
          <p:cNvSpPr/>
          <p:nvPr/>
        </p:nvSpPr>
        <p:spPr>
          <a:xfrm>
            <a:off x="-914400" y="2457450"/>
            <a:ext cx="3200400" cy="3200400"/>
          </a:xfrm>
          <a:prstGeom prst="ellipse">
            <a:avLst/>
          </a:prstGeom>
          <a:solidFill>
            <a:srgbClr val="AED9E0"/>
          </a:solidFill>
          <a:ln/>
        </p:spPr>
      </p:sp>
      <p:sp>
        <p:nvSpPr>
          <p:cNvPr id="5" name="Shape 3"/>
          <p:cNvSpPr/>
          <p:nvPr/>
        </p:nvSpPr>
        <p:spPr>
          <a:xfrm rot="900000">
            <a:off x="5028233" y="1028215"/>
            <a:ext cx="733425" cy="2195513"/>
          </a:xfrm>
          <a:prstGeom prst="roundRect">
            <a:avLst>
              <a:gd name="adj" fmla="val 62176"/>
            </a:avLst>
          </a:prstGeom>
          <a:solidFill>
            <a:srgbClr val="FFBCA6"/>
          </a:solidFill>
          <a:ln/>
        </p:spPr>
      </p:sp>
      <p:sp>
        <p:nvSpPr>
          <p:cNvPr id="6" name="Shape 4"/>
          <p:cNvSpPr/>
          <p:nvPr/>
        </p:nvSpPr>
        <p:spPr>
          <a:xfrm>
            <a:off x="6218895" y="2761320"/>
            <a:ext cx="1095375" cy="1095375"/>
          </a:xfrm>
          <a:prstGeom prst="ellipse">
            <a:avLst/>
          </a:prstGeom>
          <a:solidFill>
            <a:srgbClr val="C8B6FF"/>
          </a:solidFill>
          <a:ln/>
        </p:spPr>
      </p:sp>
      <p:sp>
        <p:nvSpPr>
          <p:cNvPr id="7" name="Shape 5"/>
          <p:cNvSpPr/>
          <p:nvPr/>
        </p:nvSpPr>
        <p:spPr>
          <a:xfrm>
            <a:off x="8046281" y="2056916"/>
            <a:ext cx="366712" cy="366712"/>
          </a:xfrm>
          <a:prstGeom prst="ellipse">
            <a:avLst/>
          </a:prstGeom>
          <a:solidFill>
            <a:srgbClr val="AED9E0"/>
          </a:solidFill>
          <a:ln/>
        </p:spPr>
      </p:sp>
      <p:sp>
        <p:nvSpPr>
          <p:cNvPr id="8" name="Shape 6"/>
          <p:cNvSpPr/>
          <p:nvPr/>
        </p:nvSpPr>
        <p:spPr>
          <a:xfrm>
            <a:off x="731007" y="411882"/>
            <a:ext cx="7681912" cy="4319588"/>
          </a:xfrm>
          <a:prstGeom prst="roundRect">
            <a:avLst>
              <a:gd name="adj" fmla="val 896"/>
            </a:avLst>
          </a:prstGeom>
          <a:solidFill>
            <a:srgbClr val="FFFFFF">
              <a:alpha val="50000"/>
            </a:srgbClr>
          </a:solidFill>
          <a:ln/>
        </p:spPr>
      </p:sp>
      <p:sp>
        <p:nvSpPr>
          <p:cNvPr id="9" name="Text 7"/>
          <p:cNvSpPr/>
          <p:nvPr/>
        </p:nvSpPr>
        <p:spPr>
          <a:xfrm>
            <a:off x="1096268" y="616148"/>
            <a:ext cx="276225" cy="276225"/>
          </a:xfrm>
          <a:prstGeom prst="roundRect">
            <a:avLst>
              <a:gd name="adj" fmla="val 21917"/>
            </a:avLst>
          </a:prstGeom>
          <a:solidFill>
            <a:srgbClr val="2D3748"/>
          </a:solidFill>
          <a:ln/>
        </p:spPr>
        <p:txBody>
          <a:bodyPr wrap="square" lIns="0" tIns="0" rIns="0" bIns="0" rtlCol="0" anchor="ctr"/>
          <a:lstStyle/>
          <a:p>
            <a:pPr algn="ctr" indent="0" marL="0">
              <a:lnSpc>
                <a:spcPts val="1620"/>
              </a:lnSpc>
              <a:buNone/>
            </a:pPr>
            <a:r>
              <a:rPr lang="en-US" sz="1000" b="1" dirty="0">
                <a:solidFill>
                  <a:srgbClr val="FFFFFF"/>
                </a:solidFill>
                <a:latin typeface="DM Sans" pitchFamily="34" charset="0"/>
                <a:ea typeface="DM Sans" pitchFamily="34" charset="-122"/>
                <a:cs typeface="DM Sans" pitchFamily="34" charset="-120"/>
              </a:rPr>
              <a:t>F</a:t>
            </a:r>
            <a:endParaRPr lang="en-US" sz="1000" dirty="0"/>
          </a:p>
        </p:txBody>
      </p:sp>
      <p:sp>
        <p:nvSpPr>
          <p:cNvPr id="10" name="Text 8"/>
          <p:cNvSpPr/>
          <p:nvPr/>
        </p:nvSpPr>
        <p:spPr>
          <a:xfrm>
            <a:off x="1462869" y="651867"/>
            <a:ext cx="595313" cy="204787"/>
          </a:xfrm>
          <a:prstGeom prst="rect">
            <a:avLst/>
          </a:prstGeom>
          <a:ln/>
        </p:spPr>
        <p:txBody>
          <a:bodyPr wrap="square" lIns="0" tIns="0" rIns="0" bIns="0" rtlCol="0" anchor="t"/>
          <a:lstStyle/>
          <a:p>
            <a:pPr algn="l" indent="0" marL="0">
              <a:lnSpc>
                <a:spcPts val="1620"/>
              </a:lnSpc>
              <a:buNone/>
            </a:pPr>
            <a:r>
              <a:rPr lang="en-US" sz="1000" b="1" dirty="0">
                <a:solidFill>
                  <a:srgbClr val="2D3748"/>
                </a:solidFill>
                <a:latin typeface="DM Sans" pitchFamily="34" charset="0"/>
                <a:ea typeface="DM Sans" pitchFamily="34" charset="-122"/>
                <a:cs typeface="DM Sans" pitchFamily="34" charset="-120"/>
              </a:rPr>
              <a:t>fade.app</a:t>
            </a:r>
            <a:endParaRPr lang="en-US" sz="1000" dirty="0"/>
          </a:p>
        </p:txBody>
      </p:sp>
      <p:sp>
        <p:nvSpPr>
          <p:cNvPr id="11" name="Text 9"/>
          <p:cNvSpPr/>
          <p:nvPr/>
        </p:nvSpPr>
        <p:spPr>
          <a:xfrm>
            <a:off x="7498035" y="644686"/>
            <a:ext cx="547687" cy="219075"/>
          </a:xfrm>
          <a:prstGeom prst="roundRect">
            <a:avLst>
              <a:gd name="adj" fmla="val 52174"/>
            </a:avLst>
          </a:prstGeom>
          <a:solidFill>
            <a:srgbClr val="C8B6FF"/>
          </a:solidFill>
          <a:ln/>
        </p:spPr>
        <p:txBody>
          <a:bodyPr wrap="square" lIns="0" tIns="0" rIns="0" bIns="0" rtlCol="0" anchor="ctr"/>
          <a:lstStyle/>
          <a:p>
            <a:pPr algn="l" indent="0" marL="0">
              <a:lnSpc>
                <a:spcPts val="1080"/>
              </a:lnSpc>
              <a:buNone/>
            </a:pPr>
            <a:r>
              <a:rPr lang="en-US" sz="700" b="1" dirty="0">
                <a:solidFill>
                  <a:srgbClr val="2D3748"/>
                </a:solidFill>
                <a:latin typeface="DM Sans" pitchFamily="34" charset="0"/>
                <a:ea typeface="DM Sans" pitchFamily="34" charset="-122"/>
                <a:cs typeface="DM Sans" pitchFamily="34" charset="-120"/>
              </a:rPr>
              <a:t>Vision</a:t>
            </a:r>
            <a:endParaRPr lang="en-US" sz="700" dirty="0"/>
          </a:p>
        </p:txBody>
      </p:sp>
      <p:sp>
        <p:nvSpPr>
          <p:cNvPr id="12" name="Text 10"/>
          <p:cNvSpPr/>
          <p:nvPr/>
        </p:nvSpPr>
        <p:spPr>
          <a:xfrm>
            <a:off x="1097273" y="1120527"/>
            <a:ext cx="1309687" cy="200025"/>
          </a:xfrm>
          <a:prstGeom prst="roundRect">
            <a:avLst>
              <a:gd name="adj" fmla="val 57143"/>
            </a:avLst>
          </a:prstGeom>
          <a:solidFill>
            <a:srgbClr val="2D3748"/>
          </a:solidFill>
          <a:ln/>
        </p:spPr>
        <p:txBody>
          <a:bodyPr wrap="square" lIns="0" tIns="0" rIns="0" bIns="0" rtlCol="0" anchor="ctr"/>
          <a:lstStyle/>
          <a:p>
            <a:pPr algn="l" indent="0" marL="0">
              <a:lnSpc>
                <a:spcPts val="1188"/>
              </a:lnSpc>
              <a:spcAft>
                <a:spcPts val="1215"/>
              </a:spcAft>
              <a:buNone/>
            </a:pPr>
            <a:r>
              <a:rPr lang="en-US" sz="700" b="1" dirty="0">
                <a:solidFill>
                  <a:srgbClr val="FFFFFF"/>
                </a:solidFill>
                <a:latin typeface="DM Sans" pitchFamily="34" charset="0"/>
                <a:ea typeface="DM Sans" pitchFamily="34" charset="-122"/>
                <a:cs typeface="DM Sans" pitchFamily="34" charset="-120"/>
              </a:rPr>
              <a:t>WHERE THIS GOES</a:t>
            </a:r>
            <a:endParaRPr lang="en-US" sz="700" dirty="0"/>
          </a:p>
        </p:txBody>
      </p:sp>
      <p:sp>
        <p:nvSpPr>
          <p:cNvPr id="13" name="Text 11"/>
          <p:cNvSpPr/>
          <p:nvPr/>
        </p:nvSpPr>
        <p:spPr>
          <a:xfrm>
            <a:off x="1097235" y="1475259"/>
            <a:ext cx="6400800" cy="1057275"/>
          </a:xfrm>
          <a:prstGeom prst="rect">
            <a:avLst/>
          </a:prstGeom>
          <a:ln/>
        </p:spPr>
        <p:txBody>
          <a:bodyPr wrap="square" lIns="0" tIns="0" rIns="0" bIns="0" rtlCol="0" anchor="t"/>
          <a:lstStyle/>
          <a:p>
            <a:pPr algn="l" indent="0" marL="0">
              <a:lnSpc>
                <a:spcPts val="4158"/>
              </a:lnSpc>
              <a:spcAft>
                <a:spcPts val="1215"/>
              </a:spcAft>
              <a:buNone/>
            </a:pPr>
            <a:r>
              <a:rPr lang="en-US" sz="3900" b="1" dirty="0">
                <a:solidFill>
                  <a:srgbClr val="1A202C"/>
                </a:solidFill>
                <a:latin typeface="DM Sans" pitchFamily="34" charset="0"/>
                <a:ea typeface="DM Sans" pitchFamily="34" charset="-122"/>
                <a:cs typeface="DM Sans" pitchFamily="34" charset="-120"/>
              </a:rPr>
              <a:t>The phone becomes the wallet for digital identity.</a:t>
            </a:r>
            <a:endParaRPr lang="en-US" sz="3900" dirty="0"/>
          </a:p>
        </p:txBody>
      </p:sp>
      <p:sp>
        <p:nvSpPr>
          <p:cNvPr id="14" name="Text 12"/>
          <p:cNvSpPr/>
          <p:nvPr/>
        </p:nvSpPr>
        <p:spPr>
          <a:xfrm>
            <a:off x="1097235" y="2685008"/>
            <a:ext cx="5486400" cy="742950"/>
          </a:xfrm>
          <a:prstGeom prst="rect">
            <a:avLst/>
          </a:prstGeom>
          <a:ln/>
        </p:spPr>
        <p:txBody>
          <a:bodyPr wrap="square" lIns="0" tIns="0" rIns="0" bIns="0" rtlCol="0" anchor="t"/>
          <a:lstStyle/>
          <a:p>
            <a:pPr algn="l" indent="0" marL="0">
              <a:lnSpc>
                <a:spcPts val="1944"/>
              </a:lnSpc>
              <a:spcAft>
                <a:spcPts val="1620"/>
              </a:spcAft>
              <a:buNone/>
            </a:pPr>
            <a:r>
              <a:rPr lang="en-US" sz="1200" dirty="0">
                <a:solidFill>
                  <a:srgbClr val="4A5568"/>
                </a:solidFill>
                <a:latin typeface="DM Sans" pitchFamily="34" charset="0"/>
                <a:ea typeface="DM Sans" pitchFamily="34" charset="-122"/>
                <a:cs typeface="DM Sans" pitchFamily="34" charset="-120"/>
              </a:rPr>
              <a:t>Fade is a thin layer between people and the screens around them. Every public surface becomes safe to use, briefly, on your terms. The first version is email. The endgame is every login on every borrowed screen.</a:t>
            </a:r>
            <a:endParaRPr lang="en-US" sz="1200" dirty="0"/>
          </a:p>
        </p:txBody>
      </p:sp>
      <p:sp>
        <p:nvSpPr>
          <p:cNvPr id="15" name="Shape 13"/>
          <p:cNvSpPr/>
          <p:nvPr/>
        </p:nvSpPr>
        <p:spPr>
          <a:xfrm>
            <a:off x="1096342" y="3631592"/>
            <a:ext cx="2809875" cy="385763"/>
          </a:xfrm>
          <a:prstGeom prst="roundRect">
            <a:avLst>
              <a:gd name="adj" fmla="val 29630"/>
            </a:avLst>
          </a:prstGeom>
          <a:solidFill>
            <a:srgbClr val="2D3748"/>
          </a:solidFill>
          <a:ln/>
        </p:spPr>
      </p:sp>
      <p:sp>
        <p:nvSpPr>
          <p:cNvPr id="16" name="Shape 14"/>
          <p:cNvSpPr/>
          <p:nvPr/>
        </p:nvSpPr>
        <p:spPr>
          <a:xfrm>
            <a:off x="1316385" y="3760143"/>
            <a:ext cx="128588" cy="128588"/>
          </a:xfrm>
          <a:prstGeom prst="ellipse">
            <a:avLst/>
          </a:prstGeom>
          <a:solidFill>
            <a:srgbClr val="FFBCA6"/>
          </a:solidFill>
          <a:ln/>
        </p:spPr>
      </p:sp>
      <p:sp>
        <p:nvSpPr>
          <p:cNvPr id="17" name="Text 15"/>
          <p:cNvSpPr/>
          <p:nvPr/>
        </p:nvSpPr>
        <p:spPr>
          <a:xfrm>
            <a:off x="1553319" y="3714936"/>
            <a:ext cx="2133600" cy="219075"/>
          </a:xfrm>
          <a:prstGeom prst="rect">
            <a:avLst/>
          </a:prstGeom>
          <a:ln/>
        </p:spPr>
        <p:txBody>
          <a:bodyPr wrap="square" lIns="0" tIns="0" rIns="0" bIns="0" rtlCol="0" anchor="t"/>
          <a:lstStyle/>
          <a:p>
            <a:pPr algn="l" indent="0" marL="0">
              <a:lnSpc>
                <a:spcPts val="1728"/>
              </a:lnSpc>
              <a:buNone/>
            </a:pPr>
            <a:r>
              <a:rPr lang="en-US" sz="1100" b="1" dirty="0">
                <a:solidFill>
                  <a:srgbClr val="FFFFFF"/>
                </a:solidFill>
                <a:latin typeface="DM Sans" pitchFamily="34" charset="0"/>
                <a:ea typeface="DM Sans" pitchFamily="34" charset="-122"/>
                <a:cs typeface="DM Sans" pitchFamily="34" charset="-120"/>
              </a:rPr>
              <a:t>Fade — leave nothing behind.</a:t>
            </a:r>
            <a:endParaRPr lang="en-US" sz="1100" dirty="0"/>
          </a:p>
        </p:txBody>
      </p:sp>
      <p:sp>
        <p:nvSpPr>
          <p:cNvPr id="18" name="Shape 16"/>
          <p:cNvSpPr/>
          <p:nvPr/>
        </p:nvSpPr>
        <p:spPr>
          <a:xfrm>
            <a:off x="1097719" y="4244876"/>
            <a:ext cx="6948488" cy="280987"/>
          </a:xfrm>
          <a:prstGeom prst="rect">
            <a:avLst/>
          </a:prstGeom>
          <a:ln/>
        </p:spPr>
      </p:sp>
      <p:sp>
        <p:nvSpPr>
          <p:cNvPr id="19" name="Text 17"/>
          <p:cNvSpPr/>
          <p:nvPr/>
        </p:nvSpPr>
        <p:spPr>
          <a:xfrm>
            <a:off x="1096566" y="4360590"/>
            <a:ext cx="1343025" cy="166688"/>
          </a:xfrm>
          <a:prstGeom prst="rect">
            <a:avLst/>
          </a:prstGeom>
          <a:ln/>
        </p:spPr>
        <p:txBody>
          <a:bodyPr wrap="square" lIns="0" tIns="0" rIns="0" bIns="0" rtlCol="0" anchor="t"/>
          <a:lstStyle/>
          <a:p>
            <a:pPr algn="l" indent="0" marL="0">
              <a:lnSpc>
                <a:spcPts val="1296"/>
              </a:lnSpc>
              <a:buNone/>
            </a:pPr>
            <a:r>
              <a:rPr lang="en-US" sz="800" dirty="0">
                <a:solidFill>
                  <a:srgbClr val="718096"/>
                </a:solidFill>
                <a:latin typeface="DM Sans" pitchFamily="34" charset="0"/>
                <a:ea typeface="DM Sans" pitchFamily="34" charset="-122"/>
                <a:cs typeface="DM Sans" pitchFamily="34" charset="-120"/>
              </a:rPr>
              <a:t>A pitch by Dima Alhajajlah</a:t>
            </a:r>
            <a:endParaRPr lang="en-US" sz="800" dirty="0"/>
          </a:p>
        </p:txBody>
      </p:sp>
      <p:sp>
        <p:nvSpPr>
          <p:cNvPr id="20" name="Shape 18"/>
          <p:cNvSpPr/>
          <p:nvPr/>
        </p:nvSpPr>
        <p:spPr>
          <a:xfrm>
            <a:off x="7260878" y="4398690"/>
            <a:ext cx="90488" cy="90488"/>
          </a:xfrm>
          <a:prstGeom prst="ellipse">
            <a:avLst/>
          </a:prstGeom>
          <a:solidFill>
            <a:srgbClr val="FFBCA6"/>
          </a:solidFill>
          <a:ln/>
        </p:spPr>
      </p:sp>
      <p:sp>
        <p:nvSpPr>
          <p:cNvPr id="21" name="Shape 19"/>
          <p:cNvSpPr/>
          <p:nvPr/>
        </p:nvSpPr>
        <p:spPr>
          <a:xfrm>
            <a:off x="7443639" y="4398690"/>
            <a:ext cx="90488" cy="90488"/>
          </a:xfrm>
          <a:prstGeom prst="ellipse">
            <a:avLst/>
          </a:prstGeom>
          <a:solidFill>
            <a:srgbClr val="AED9E0"/>
          </a:solidFill>
          <a:ln/>
        </p:spPr>
      </p:sp>
      <p:sp>
        <p:nvSpPr>
          <p:cNvPr id="22" name="Shape 20"/>
          <p:cNvSpPr/>
          <p:nvPr/>
        </p:nvSpPr>
        <p:spPr>
          <a:xfrm>
            <a:off x="7626400" y="4398690"/>
            <a:ext cx="90488" cy="90488"/>
          </a:xfrm>
          <a:prstGeom prst="ellipse">
            <a:avLst/>
          </a:prstGeom>
          <a:solidFill>
            <a:srgbClr val="C8B6FF"/>
          </a:solidFill>
          <a:ln/>
        </p:spPr>
      </p:sp>
      <p:sp>
        <p:nvSpPr>
          <p:cNvPr id="23" name="Text 21"/>
          <p:cNvSpPr/>
          <p:nvPr/>
        </p:nvSpPr>
        <p:spPr>
          <a:xfrm>
            <a:off x="7899574" y="4360590"/>
            <a:ext cx="147637" cy="166688"/>
          </a:xfrm>
          <a:prstGeom prst="rect">
            <a:avLst/>
          </a:prstGeom>
          <a:ln/>
        </p:spPr>
        <p:txBody>
          <a:bodyPr wrap="square" lIns="0" tIns="0" rIns="0" bIns="0" rtlCol="0" anchor="t"/>
          <a:lstStyle/>
          <a:p>
            <a:pPr algn="l" indent="0" marL="0">
              <a:lnSpc>
                <a:spcPts val="1296"/>
              </a:lnSpc>
              <a:buNone/>
            </a:pPr>
            <a:r>
              <a:rPr lang="en-US" sz="800" b="1" dirty="0">
                <a:solidFill>
                  <a:srgbClr val="2D3748"/>
                </a:solidFill>
                <a:latin typeface="DM Sans" pitchFamily="34" charset="0"/>
                <a:ea typeface="DM Sans" pitchFamily="34" charset="-122"/>
                <a:cs typeface="DM Sans" pitchFamily="34" charset="-120"/>
              </a:rPr>
              <a:t>08</a:t>
            </a:r>
            <a:endParaRPr lang="en-US" sz="800" dirty="0"/>
          </a:p>
        </p:txBody>
      </p:sp>
      <p:pic>
        <p:nvPicPr>
          <p:cNvPr id="2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97719" y="4244876"/>
            <a:ext cx="6948488" cy="28098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2026-05-02T19:09:33Z</dcterms:created>
  <dcterms:modified xsi:type="dcterms:W3CDTF">2026-05-02T19:09:33Z</dcterms:modified>
</cp:coreProperties>
</file>